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72"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2915AE-815F-3AAD-458A-8FFF024F1B5B}">
          <p14:sldIdLst>
            <p14:sldId id="256"/>
          </p14:sldIdLst>
        </p14:section>
        <p14:section name="Background" id="{788DC535-D07E-D39F-2BB4-5848087BE643}">
          <p14:sldIdLst>
            <p14:sldId id="257"/>
            <p14:sldId id="258"/>
          </p14:sldIdLst>
        </p14:section>
        <p14:section name="Analysis" id="{A6A2E0F9-DDEC-BEA1-E416-1B092F35FB75}">
          <p14:sldIdLst>
            <p14:sldId id="259"/>
            <p14:sldId id="272"/>
            <p14:sldId id="260"/>
            <p14:sldId id="261"/>
            <p14:sldId id="262"/>
            <p14:sldId id="263"/>
            <p14:sldId id="264"/>
            <p14:sldId id="265"/>
          </p14:sldIdLst>
        </p14:section>
        <p14:section name="Wrap-up" id="{CD349DBA-0171-E2FA-5336-D0206566E860}">
          <p14:sldIdLst>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4" d="100"/>
          <a:sy n="114" d="100"/>
        </p:scale>
        <p:origin x="56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1747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rtlCol="0"/>
          <a:lstStyle>
            <a:lvl1pPr marL="0" indent="0" algn="l">
              <a:buNone/>
              <a:defRPr lang="en-US" sz="2600" b="1" dirty="0">
                <a:solidFill>
                  <a:schemeClr val="tx1"/>
                </a:solidFill>
              </a:defRPr>
            </a:lvl1pPr>
          </a:lstStyle>
          <a:p>
            <a:pPr marL="0" indent="0" algn="l">
              <a:buNone/>
            </a:pPr>
            <a:endParaRPr lang="en-US" sz="2600" dirty="0"/>
          </a:p>
        </p:txBody>
      </p:sp>
      <p:sp>
        <p:nvSpPr>
          <p:cNvPr id="3" name="Text 0"/>
          <p:cNvSpPr/>
          <p:nvPr/>
        </p:nvSpPr>
        <p:spPr>
          <a:xfrm>
            <a:off x="411480" y="4828032"/>
            <a:ext cx="3657600" cy="201168"/>
          </a:xfrm>
          <a:prstGeom prst="rect">
            <a:avLst/>
          </a:prstGeom>
          <a:noFill/>
          <a:ln/>
        </p:spPr>
        <p:txBody>
          <a:bodyPr wrap="square" lIns="0" tIns="0" rIns="0" bIns="0" rtlCol="0" anchor="ctr"/>
          <a:lstStyle/>
          <a:p>
            <a:pPr marL="0" indent="0">
              <a:buNone/>
            </a:pPr>
            <a:r>
              <a:rPr lang="en-US" sz="900" dirty="0">
                <a:solidFill>
                  <a:schemeClr val="accent3"/>
                </a:solidFill>
              </a:rPr>
              <a:t>Student Mathematics Performance Analytics</a:t>
            </a:r>
            <a:endParaRPr lang="en-US" sz="9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rtlCol="0"/>
          <a:lstStyle>
            <a:lvl1pPr marL="0" indent="0" algn="l">
              <a:buNone/>
              <a:defRPr lang="en-US" sz="2600" b="1" dirty="0">
                <a:solidFill>
                  <a:schemeClr val="bg1"/>
                </a:solidFill>
              </a:defRPr>
            </a:lvl1pPr>
          </a:lstStyle>
          <a:p>
            <a:pPr marL="0" indent="0" algn="l">
              <a:buNone/>
            </a:pPr>
            <a:endParaRPr lang="en-US" sz="2600" dirty="0"/>
          </a:p>
        </p:txBody>
      </p:sp>
      <p:sp>
        <p:nvSpPr>
          <p:cNvPr id="3" name="Text 0"/>
          <p:cNvSpPr/>
          <p:nvPr/>
        </p:nvSpPr>
        <p:spPr>
          <a:xfrm>
            <a:off x="411480" y="4828032"/>
            <a:ext cx="3657600" cy="201168"/>
          </a:xfrm>
          <a:prstGeom prst="rect">
            <a:avLst/>
          </a:prstGeom>
          <a:noFill/>
          <a:ln/>
        </p:spPr>
        <p:txBody>
          <a:bodyPr wrap="square" lIns="0" tIns="0" rIns="0" bIns="0" rtlCol="0" anchor="ctr"/>
          <a:lstStyle/>
          <a:p>
            <a:pPr marL="0" indent="0">
              <a:buNone/>
            </a:pPr>
            <a:r>
              <a:rPr lang="en-US" sz="900" dirty="0">
                <a:solidFill>
                  <a:schemeClr val="accent2"/>
                </a:solidFill>
              </a:rPr>
              <a:t>Student Mathematics Performance Analytics</a:t>
            </a:r>
            <a:endParaRPr lang="en-US" sz="9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ERO">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94360" y="1143000"/>
            <a:ext cx="7315200" cy="320040"/>
          </a:xfrm>
          <a:prstGeom prst="rect">
            <a:avLst/>
          </a:prstGeom>
          <a:noFill/>
          <a:ln/>
        </p:spPr>
        <p:txBody>
          <a:bodyPr wrap="square" lIns="0" tIns="0" rIns="0" bIns="0" rtlCol="0" anchor="ctr"/>
          <a:lstStyle/>
          <a:p>
            <a:pPr marL="0" indent="0">
              <a:buNone/>
            </a:pPr>
            <a:r>
              <a:rPr lang="en-US" sz="1600" dirty="0">
                <a:solidFill>
                  <a:schemeClr val="accent2"/>
                </a:solidFill>
              </a:rPr>
              <a:t>Data Analytics Project</a:t>
            </a:r>
            <a:endParaRPr lang="en-US" sz="1600" dirty="0"/>
          </a:p>
        </p:txBody>
      </p:sp>
      <p:sp>
        <p:nvSpPr>
          <p:cNvPr id="3" name="Deck title"/>
          <p:cNvSpPr txBox="1"/>
          <p:nvPr/>
        </p:nvSpPr>
        <p:spPr>
          <a:xfrm>
            <a:off x="594360" y="1508760"/>
            <a:ext cx="7498080" cy="1280160"/>
          </a:xfrm>
          <a:prstGeom prst="rect">
            <a:avLst/>
          </a:prstGeom>
          <a:noFill/>
          <a:ln/>
        </p:spPr>
        <p:txBody>
          <a:bodyPr wrap="square" lIns="0" tIns="0" rIns="0" bIns="0" rtlCol="0" anchor="t"/>
          <a:lstStyle/>
          <a:p>
            <a:pPr marL="0" indent="0">
              <a:buNone/>
            </a:pPr>
            <a:r>
              <a:rPr lang="en-US" sz="4000" b="1" dirty="0">
                <a:solidFill>
                  <a:schemeClr val="bg1"/>
                </a:solidFill>
              </a:rPr>
              <a:t>Student Mathematics Performance Analytics</a:t>
            </a:r>
            <a:endParaRPr lang="en-US" sz="4000" dirty="0"/>
          </a:p>
        </p:txBody>
      </p:sp>
      <p:sp>
        <p:nvSpPr>
          <p:cNvPr id="4" name="Team"/>
          <p:cNvSpPr txBox="1"/>
          <p:nvPr/>
        </p:nvSpPr>
        <p:spPr>
          <a:xfrm>
            <a:off x="594360" y="2926080"/>
            <a:ext cx="7680960" cy="548640"/>
          </a:xfrm>
          <a:prstGeom prst="rect">
            <a:avLst/>
          </a:prstGeom>
          <a:noFill/>
          <a:ln/>
        </p:spPr>
        <p:txBody>
          <a:bodyPr wrap="square" lIns="0" tIns="0" rIns="0" bIns="0" rtlCol="0" anchor="t"/>
          <a:lstStyle/>
          <a:p>
            <a:r>
              <a:rPr lang="en-US" sz="1300" dirty="0">
                <a:solidFill>
                  <a:schemeClr val="bg1"/>
                </a:solidFill>
              </a:rPr>
              <a:t>Team: [Shaheen Khan –  250301370263] · [</a:t>
            </a:r>
            <a:r>
              <a:rPr lang="en-US" sz="1300" dirty="0" err="1">
                <a:solidFill>
                  <a:schemeClr val="bg1"/>
                </a:solidFill>
              </a:rPr>
              <a:t>Lipsha</a:t>
            </a:r>
            <a:r>
              <a:rPr lang="en-US" sz="1300" dirty="0">
                <a:solidFill>
                  <a:schemeClr val="bg1"/>
                </a:solidFill>
              </a:rPr>
              <a:t> Dash – 250301370277]· </a:t>
            </a:r>
          </a:p>
          <a:p>
            <a:r>
              <a:rPr lang="en-US" sz="1300" dirty="0">
                <a:solidFill>
                  <a:schemeClr val="bg1"/>
                </a:solidFill>
              </a:rPr>
              <a:t>[Swadhin Kumar Lenka – 250301370290] ·[Sushree Adyasha Parida – 250301370292]</a:t>
            </a:r>
          </a:p>
          <a:p>
            <a:r>
              <a:rPr lang="en-US" sz="1300" dirty="0">
                <a:solidFill>
                  <a:schemeClr val="bg1"/>
                </a:solidFill>
              </a:rPr>
              <a:t>[Nibedita Sahoo – 250301370295] </a:t>
            </a:r>
            <a:endParaRPr lang="en-US" sz="1300" dirty="0"/>
          </a:p>
        </p:txBody>
      </p:sp>
      <p:sp>
        <p:nvSpPr>
          <p:cNvPr id="5" name="Course"/>
          <p:cNvSpPr txBox="1"/>
          <p:nvPr/>
        </p:nvSpPr>
        <p:spPr>
          <a:xfrm>
            <a:off x="594360" y="3611880"/>
            <a:ext cx="7680960" cy="320040"/>
          </a:xfrm>
          <a:prstGeom prst="rect">
            <a:avLst/>
          </a:prstGeom>
          <a:noFill/>
          <a:ln/>
        </p:spPr>
        <p:txBody>
          <a:bodyPr wrap="square" lIns="0" tIns="0" rIns="0" bIns="0" rtlCol="0" anchor="ctr"/>
          <a:lstStyle/>
          <a:p>
            <a:pPr marL="0" indent="0">
              <a:buNone/>
            </a:pPr>
            <a:r>
              <a:rPr lang="en-US" sz="1300" dirty="0">
                <a:solidFill>
                  <a:schemeClr val="accent2"/>
                </a:solidFill>
              </a:rPr>
              <a:t>[Data Analysis and Visualization using Python] · [Faculty name- Chandra Sekhar Jena] · [Semester-3]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Introduction &amp; Problem Statement</a:t>
            </a:r>
            <a:endParaRPr lang="en-US" sz="2600" dirty="0"/>
          </a:p>
        </p:txBody>
      </p:sp>
      <p:sp>
        <p:nvSpPr>
          <p:cNvPr id="3" name="Domain card"/>
          <p:cNvSpPr/>
          <p:nvPr/>
        </p:nvSpPr>
        <p:spPr>
          <a:xfrm>
            <a:off x="411480" y="1051560"/>
            <a:ext cx="2651760" cy="1554480"/>
          </a:xfrm>
          <a:prstGeom prst="roundRect">
            <a:avLst>
              <a:gd name="adj" fmla="val 4706"/>
            </a:avLst>
          </a:prstGeom>
          <a:solidFill>
            <a:schemeClr val="bg2"/>
          </a:solidFill>
          <a:ln w="9525">
            <a:solidFill>
              <a:schemeClr val="accent4"/>
            </a:solidFill>
            <a:prstDash val="solid"/>
          </a:ln>
        </p:spPr>
      </p:sp>
      <p:sp>
        <p:nvSpPr>
          <p:cNvPr id="4" name="Domain heading"/>
          <p:cNvSpPr txBox="1"/>
          <p:nvPr/>
        </p:nvSpPr>
        <p:spPr>
          <a:xfrm>
            <a:off x="594360" y="118872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Domain</a:t>
            </a:r>
            <a:endParaRPr lang="en-US" sz="1500" dirty="0"/>
          </a:p>
        </p:txBody>
      </p:sp>
      <p:sp>
        <p:nvSpPr>
          <p:cNvPr id="5" name="Domain text"/>
          <p:cNvSpPr txBox="1"/>
          <p:nvPr/>
        </p:nvSpPr>
        <p:spPr>
          <a:xfrm>
            <a:off x="594360" y="1554480"/>
            <a:ext cx="2286000" cy="914400"/>
          </a:xfrm>
          <a:prstGeom prst="rect">
            <a:avLst/>
          </a:prstGeom>
          <a:noFill/>
          <a:ln/>
        </p:spPr>
        <p:txBody>
          <a:bodyPr wrap="square" lIns="0" tIns="0" rIns="0" bIns="0" rtlCol="0" anchor="t"/>
          <a:lstStyle/>
          <a:p>
            <a:pPr marL="0" indent="0">
              <a:buNone/>
            </a:pPr>
            <a:r>
              <a:rPr lang="en-US" sz="1300" dirty="0">
                <a:solidFill>
                  <a:schemeClr val="tx1"/>
                </a:solidFill>
              </a:rPr>
              <a:t>Education &amp; Academic Data Analytics</a:t>
            </a:r>
            <a:endParaRPr lang="en-US" sz="1300" dirty="0"/>
          </a:p>
        </p:txBody>
      </p:sp>
      <p:sp>
        <p:nvSpPr>
          <p:cNvPr id="6" name="Problem card"/>
          <p:cNvSpPr/>
          <p:nvPr/>
        </p:nvSpPr>
        <p:spPr>
          <a:xfrm>
            <a:off x="3246120" y="1051560"/>
            <a:ext cx="2651760" cy="1554480"/>
          </a:xfrm>
          <a:prstGeom prst="roundRect">
            <a:avLst>
              <a:gd name="adj" fmla="val 4706"/>
            </a:avLst>
          </a:prstGeom>
          <a:solidFill>
            <a:schemeClr val="bg2"/>
          </a:solidFill>
          <a:ln w="9525">
            <a:solidFill>
              <a:schemeClr val="accent4"/>
            </a:solidFill>
            <a:prstDash val="solid"/>
          </a:ln>
        </p:spPr>
      </p:sp>
      <p:sp>
        <p:nvSpPr>
          <p:cNvPr id="7" name="Problem heading"/>
          <p:cNvSpPr txBox="1"/>
          <p:nvPr/>
        </p:nvSpPr>
        <p:spPr>
          <a:xfrm>
            <a:off x="3429000" y="118872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Problem</a:t>
            </a:r>
            <a:endParaRPr lang="en-US" sz="1500" dirty="0"/>
          </a:p>
        </p:txBody>
      </p:sp>
      <p:sp>
        <p:nvSpPr>
          <p:cNvPr id="8" name="Problem text"/>
          <p:cNvSpPr txBox="1"/>
          <p:nvPr/>
        </p:nvSpPr>
        <p:spPr>
          <a:xfrm>
            <a:off x="3429000" y="1554480"/>
            <a:ext cx="2286000" cy="914400"/>
          </a:xfrm>
          <a:prstGeom prst="rect">
            <a:avLst/>
          </a:prstGeom>
          <a:noFill/>
          <a:ln/>
        </p:spPr>
        <p:txBody>
          <a:bodyPr wrap="square" lIns="0" tIns="0" rIns="0" bIns="0" rtlCol="0" anchor="t"/>
          <a:lstStyle/>
          <a:p>
            <a:pPr marL="0" indent="0">
              <a:buNone/>
            </a:pPr>
            <a:r>
              <a:rPr lang="en-US" sz="1300" dirty="0">
                <a:solidFill>
                  <a:schemeClr val="tx1"/>
                </a:solidFill>
              </a:rPr>
              <a:t>Identifying demographic, social and study-related factors that lead to poor academic performance</a:t>
            </a:r>
            <a:endParaRPr lang="en-US" sz="1300" dirty="0"/>
          </a:p>
        </p:txBody>
      </p:sp>
      <p:sp>
        <p:nvSpPr>
          <p:cNvPr id="9" name="Goal card"/>
          <p:cNvSpPr/>
          <p:nvPr/>
        </p:nvSpPr>
        <p:spPr>
          <a:xfrm>
            <a:off x="6080760" y="1051560"/>
            <a:ext cx="2651760" cy="1554480"/>
          </a:xfrm>
          <a:prstGeom prst="roundRect">
            <a:avLst>
              <a:gd name="adj" fmla="val 4706"/>
            </a:avLst>
          </a:prstGeom>
          <a:solidFill>
            <a:schemeClr val="bg2"/>
          </a:solidFill>
          <a:ln w="9525">
            <a:solidFill>
              <a:schemeClr val="accent4"/>
            </a:solidFill>
            <a:prstDash val="solid"/>
          </a:ln>
        </p:spPr>
      </p:sp>
      <p:sp>
        <p:nvSpPr>
          <p:cNvPr id="10" name="Goal heading"/>
          <p:cNvSpPr txBox="1"/>
          <p:nvPr/>
        </p:nvSpPr>
        <p:spPr>
          <a:xfrm>
            <a:off x="6263640" y="118872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Goal</a:t>
            </a:r>
            <a:endParaRPr lang="en-US" sz="1500" dirty="0"/>
          </a:p>
        </p:txBody>
      </p:sp>
      <p:sp>
        <p:nvSpPr>
          <p:cNvPr id="11" name="Goal text"/>
          <p:cNvSpPr txBox="1"/>
          <p:nvPr/>
        </p:nvSpPr>
        <p:spPr>
          <a:xfrm>
            <a:off x="6263640" y="1554480"/>
            <a:ext cx="2286000" cy="914400"/>
          </a:xfrm>
          <a:prstGeom prst="rect">
            <a:avLst/>
          </a:prstGeom>
          <a:noFill/>
          <a:ln/>
        </p:spPr>
        <p:txBody>
          <a:bodyPr wrap="square" lIns="0" tIns="0" rIns="0" bIns="0" rtlCol="0" anchor="t"/>
          <a:lstStyle/>
          <a:p>
            <a:pPr marL="0" indent="0">
              <a:buNone/>
            </a:pPr>
            <a:r>
              <a:rPr lang="en-US" sz="1300" dirty="0">
                <a:solidFill>
                  <a:schemeClr val="tx1"/>
                </a:solidFill>
              </a:rPr>
              <a:t>A data-driven foundation for early educational intervention</a:t>
            </a:r>
            <a:endParaRPr lang="en-US" sz="13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Dataset Description</a:t>
            </a:r>
            <a:endParaRPr lang="en-US" sz="2600" dirty="0"/>
          </a:p>
        </p:txBody>
      </p:sp>
      <p:sp>
        <p:nvSpPr>
          <p:cNvPr id="3" name="Source card"/>
          <p:cNvSpPr/>
          <p:nvPr/>
        </p:nvSpPr>
        <p:spPr>
          <a:xfrm>
            <a:off x="411480" y="1051560"/>
            <a:ext cx="4114800" cy="1097280"/>
          </a:xfrm>
          <a:prstGeom prst="roundRect">
            <a:avLst>
              <a:gd name="adj" fmla="val 6667"/>
            </a:avLst>
          </a:prstGeom>
          <a:solidFill>
            <a:schemeClr val="bg2"/>
          </a:solidFill>
          <a:ln w="9525">
            <a:solidFill>
              <a:schemeClr val="accent4"/>
            </a:solidFill>
            <a:prstDash val="solid"/>
          </a:ln>
        </p:spPr>
      </p:sp>
      <p:sp>
        <p:nvSpPr>
          <p:cNvPr id="4" name="Source heading"/>
          <p:cNvSpPr txBox="1"/>
          <p:nvPr/>
        </p:nvSpPr>
        <p:spPr>
          <a:xfrm>
            <a:off x="59436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Source</a:t>
            </a:r>
            <a:endParaRPr lang="en-US" sz="1500" dirty="0"/>
          </a:p>
        </p:txBody>
      </p:sp>
      <p:sp>
        <p:nvSpPr>
          <p:cNvPr id="5" name="Source text"/>
          <p:cNvSpPr txBox="1"/>
          <p:nvPr/>
        </p:nvSpPr>
        <p:spPr>
          <a:xfrm>
            <a:off x="594360" y="1554480"/>
            <a:ext cx="3749040" cy="457200"/>
          </a:xfrm>
          <a:prstGeom prst="rect">
            <a:avLst/>
          </a:prstGeom>
          <a:noFill/>
          <a:ln/>
        </p:spPr>
        <p:txBody>
          <a:bodyPr wrap="square" lIns="0" tIns="0" rIns="0" bIns="0" rtlCol="0" anchor="t"/>
          <a:lstStyle/>
          <a:p>
            <a:pPr marL="0" indent="0">
              <a:buNone/>
            </a:pPr>
            <a:r>
              <a:rPr lang="en-US" sz="1300" dirty="0">
                <a:solidFill>
                  <a:schemeClr val="tx1"/>
                </a:solidFill>
              </a:rPr>
              <a:t>UCI Machine Learning Repository / Kaggle (student-mat.csv)</a:t>
            </a:r>
            <a:endParaRPr lang="en-US" sz="1300" dirty="0"/>
          </a:p>
        </p:txBody>
      </p:sp>
      <p:sp>
        <p:nvSpPr>
          <p:cNvPr id="6" name="Size card"/>
          <p:cNvSpPr/>
          <p:nvPr/>
        </p:nvSpPr>
        <p:spPr>
          <a:xfrm>
            <a:off x="4617720" y="1051560"/>
            <a:ext cx="4114800" cy="1097280"/>
          </a:xfrm>
          <a:prstGeom prst="roundRect">
            <a:avLst>
              <a:gd name="adj" fmla="val 6667"/>
            </a:avLst>
          </a:prstGeom>
          <a:solidFill>
            <a:schemeClr val="bg2"/>
          </a:solidFill>
          <a:ln w="9525">
            <a:solidFill>
              <a:schemeClr val="accent4"/>
            </a:solidFill>
            <a:prstDash val="solid"/>
          </a:ln>
        </p:spPr>
      </p:sp>
      <p:sp>
        <p:nvSpPr>
          <p:cNvPr id="7" name="Size heading"/>
          <p:cNvSpPr txBox="1"/>
          <p:nvPr/>
        </p:nvSpPr>
        <p:spPr>
          <a:xfrm>
            <a:off x="480060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Size</a:t>
            </a:r>
            <a:endParaRPr lang="en-US" sz="1500" dirty="0"/>
          </a:p>
        </p:txBody>
      </p:sp>
      <p:sp>
        <p:nvSpPr>
          <p:cNvPr id="8" name="Size text"/>
          <p:cNvSpPr txBox="1"/>
          <p:nvPr/>
        </p:nvSpPr>
        <p:spPr>
          <a:xfrm>
            <a:off x="4800600" y="1554480"/>
            <a:ext cx="3749040" cy="457200"/>
          </a:xfrm>
          <a:prstGeom prst="rect">
            <a:avLst/>
          </a:prstGeom>
          <a:noFill/>
          <a:ln/>
        </p:spPr>
        <p:txBody>
          <a:bodyPr wrap="square" lIns="0" tIns="0" rIns="0" bIns="0" rtlCol="0" anchor="t"/>
          <a:lstStyle/>
          <a:p>
            <a:pPr marL="0" indent="0">
              <a:buNone/>
            </a:pPr>
            <a:r>
              <a:rPr lang="en-US" sz="1300" dirty="0">
                <a:solidFill>
                  <a:schemeClr val="tx1"/>
                </a:solidFill>
              </a:rPr>
              <a:t>395 rows × 33 columns</a:t>
            </a:r>
            <a:endParaRPr lang="en-US" sz="1300" dirty="0"/>
          </a:p>
        </p:txBody>
      </p:sp>
      <p:sp>
        <p:nvSpPr>
          <p:cNvPr id="9" name="Demographics card"/>
          <p:cNvSpPr/>
          <p:nvPr/>
        </p:nvSpPr>
        <p:spPr>
          <a:xfrm>
            <a:off x="411480" y="2331720"/>
            <a:ext cx="2651760" cy="1005840"/>
          </a:xfrm>
          <a:prstGeom prst="roundRect">
            <a:avLst>
              <a:gd name="adj" fmla="val 7273"/>
            </a:avLst>
          </a:prstGeom>
          <a:solidFill>
            <a:schemeClr val="bg2"/>
          </a:solidFill>
          <a:ln w="9525">
            <a:solidFill>
              <a:schemeClr val="accent4"/>
            </a:solidFill>
            <a:prstDash val="solid"/>
          </a:ln>
        </p:spPr>
      </p:sp>
      <p:sp>
        <p:nvSpPr>
          <p:cNvPr id="10" name="Demographics heading"/>
          <p:cNvSpPr txBox="1"/>
          <p:nvPr/>
        </p:nvSpPr>
        <p:spPr>
          <a:xfrm>
            <a:off x="594360" y="246888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Demographics</a:t>
            </a:r>
            <a:endParaRPr lang="en-US" sz="1500" dirty="0"/>
          </a:p>
        </p:txBody>
      </p:sp>
      <p:sp>
        <p:nvSpPr>
          <p:cNvPr id="11" name="Demographics text"/>
          <p:cNvSpPr txBox="1"/>
          <p:nvPr/>
        </p:nvSpPr>
        <p:spPr>
          <a:xfrm>
            <a:off x="594360" y="2834640"/>
            <a:ext cx="2286000" cy="365760"/>
          </a:xfrm>
          <a:prstGeom prst="rect">
            <a:avLst/>
          </a:prstGeom>
          <a:noFill/>
          <a:ln/>
        </p:spPr>
        <p:txBody>
          <a:bodyPr wrap="square" lIns="0" tIns="0" rIns="0" bIns="0" rtlCol="0" anchor="t"/>
          <a:lstStyle/>
          <a:p>
            <a:pPr marL="0" indent="0">
              <a:buNone/>
            </a:pPr>
            <a:r>
              <a:rPr lang="en-US" sz="1300" dirty="0">
                <a:solidFill>
                  <a:schemeClr val="tx1"/>
                </a:solidFill>
              </a:rPr>
              <a:t>age, address</a:t>
            </a:r>
            <a:endParaRPr lang="en-US" sz="1300" dirty="0"/>
          </a:p>
        </p:txBody>
      </p:sp>
      <p:sp>
        <p:nvSpPr>
          <p:cNvPr id="12" name="Study habits card"/>
          <p:cNvSpPr/>
          <p:nvPr/>
        </p:nvSpPr>
        <p:spPr>
          <a:xfrm>
            <a:off x="3246120" y="2331720"/>
            <a:ext cx="2651760" cy="1005840"/>
          </a:xfrm>
          <a:prstGeom prst="roundRect">
            <a:avLst>
              <a:gd name="adj" fmla="val 7273"/>
            </a:avLst>
          </a:prstGeom>
          <a:solidFill>
            <a:schemeClr val="bg2"/>
          </a:solidFill>
          <a:ln w="9525">
            <a:solidFill>
              <a:schemeClr val="accent4"/>
            </a:solidFill>
            <a:prstDash val="solid"/>
          </a:ln>
        </p:spPr>
      </p:sp>
      <p:sp>
        <p:nvSpPr>
          <p:cNvPr id="13" name="Study habits heading"/>
          <p:cNvSpPr txBox="1"/>
          <p:nvPr/>
        </p:nvSpPr>
        <p:spPr>
          <a:xfrm>
            <a:off x="3429000" y="246888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Study habits</a:t>
            </a:r>
            <a:endParaRPr lang="en-US" sz="1500" dirty="0"/>
          </a:p>
        </p:txBody>
      </p:sp>
      <p:sp>
        <p:nvSpPr>
          <p:cNvPr id="14" name="Study habits text"/>
          <p:cNvSpPr txBox="1"/>
          <p:nvPr/>
        </p:nvSpPr>
        <p:spPr>
          <a:xfrm>
            <a:off x="3429000" y="2834640"/>
            <a:ext cx="2286000" cy="365760"/>
          </a:xfrm>
          <a:prstGeom prst="rect">
            <a:avLst/>
          </a:prstGeom>
          <a:noFill/>
          <a:ln/>
        </p:spPr>
        <p:txBody>
          <a:bodyPr wrap="square" lIns="0" tIns="0" rIns="0" bIns="0" rtlCol="0" anchor="t"/>
          <a:lstStyle/>
          <a:p>
            <a:pPr marL="0" indent="0">
              <a:buNone/>
            </a:pPr>
            <a:r>
              <a:rPr lang="en-US" sz="1300" dirty="0">
                <a:solidFill>
                  <a:schemeClr val="tx1"/>
                </a:solidFill>
              </a:rPr>
              <a:t>studytime, absences</a:t>
            </a:r>
            <a:endParaRPr lang="en-US" sz="1300" dirty="0"/>
          </a:p>
        </p:txBody>
      </p:sp>
      <p:sp>
        <p:nvSpPr>
          <p:cNvPr id="15" name="Grades card"/>
          <p:cNvSpPr/>
          <p:nvPr/>
        </p:nvSpPr>
        <p:spPr>
          <a:xfrm>
            <a:off x="6080760" y="2331720"/>
            <a:ext cx="2651760" cy="1005840"/>
          </a:xfrm>
          <a:prstGeom prst="roundRect">
            <a:avLst>
              <a:gd name="adj" fmla="val 7273"/>
            </a:avLst>
          </a:prstGeom>
          <a:solidFill>
            <a:schemeClr val="bg2"/>
          </a:solidFill>
          <a:ln w="9525">
            <a:solidFill>
              <a:schemeClr val="accent4"/>
            </a:solidFill>
            <a:prstDash val="solid"/>
          </a:ln>
        </p:spPr>
      </p:sp>
      <p:sp>
        <p:nvSpPr>
          <p:cNvPr id="16" name="Grades heading"/>
          <p:cNvSpPr txBox="1"/>
          <p:nvPr/>
        </p:nvSpPr>
        <p:spPr>
          <a:xfrm>
            <a:off x="6263640" y="2468880"/>
            <a:ext cx="2286000" cy="320040"/>
          </a:xfrm>
          <a:prstGeom prst="rect">
            <a:avLst/>
          </a:prstGeom>
          <a:noFill/>
          <a:ln/>
        </p:spPr>
        <p:txBody>
          <a:bodyPr wrap="square" lIns="0" tIns="0" rIns="0" bIns="0" rtlCol="0" anchor="ctr"/>
          <a:lstStyle/>
          <a:p>
            <a:pPr marL="0" indent="0">
              <a:buNone/>
            </a:pPr>
            <a:r>
              <a:rPr lang="en-US" sz="1500" b="1" dirty="0">
                <a:solidFill>
                  <a:schemeClr val="accent1"/>
                </a:solidFill>
              </a:rPr>
              <a:t>Grades</a:t>
            </a:r>
            <a:endParaRPr lang="en-US" sz="1500" dirty="0"/>
          </a:p>
        </p:txBody>
      </p:sp>
      <p:sp>
        <p:nvSpPr>
          <p:cNvPr id="17" name="Grades text"/>
          <p:cNvSpPr txBox="1"/>
          <p:nvPr/>
        </p:nvSpPr>
        <p:spPr>
          <a:xfrm>
            <a:off x="6263640" y="2834640"/>
            <a:ext cx="2286000" cy="365760"/>
          </a:xfrm>
          <a:prstGeom prst="rect">
            <a:avLst/>
          </a:prstGeom>
          <a:noFill/>
          <a:ln/>
        </p:spPr>
        <p:txBody>
          <a:bodyPr wrap="square" lIns="0" tIns="0" rIns="0" bIns="0" rtlCol="0" anchor="t"/>
          <a:lstStyle/>
          <a:p>
            <a:pPr marL="0" indent="0">
              <a:buNone/>
            </a:pPr>
            <a:r>
              <a:rPr lang="en-US" sz="1300" dirty="0">
                <a:solidFill>
                  <a:schemeClr val="tx1"/>
                </a:solidFill>
              </a:rPr>
              <a:t>G1, G2, G3</a:t>
            </a:r>
            <a:endParaRPr lang="en-US" sz="13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Data Cleaning &amp; Preprocessing</a:t>
            </a:r>
            <a:endParaRPr lang="en-US" sz="2600" dirty="0"/>
          </a:p>
        </p:txBody>
      </p:sp>
      <p:sp>
        <p:nvSpPr>
          <p:cNvPr id="3" name="Member label"/>
          <p:cNvSpPr txBox="1"/>
          <p:nvPr/>
        </p:nvSpPr>
        <p:spPr>
          <a:xfrm>
            <a:off x="411480" y="868680"/>
            <a:ext cx="8321040" cy="274320"/>
          </a:xfrm>
          <a:prstGeom prst="rect">
            <a:avLst/>
          </a:prstGeom>
          <a:noFill/>
          <a:ln/>
        </p:spPr>
        <p:txBody>
          <a:bodyPr wrap="square" lIns="0" tIns="0" rIns="0" bIns="0" rtlCol="0" anchor="ctr"/>
          <a:lstStyle/>
          <a:p>
            <a:pPr marL="0" indent="0">
              <a:spcAft>
                <a:spcPts val="0"/>
              </a:spcAft>
              <a:buNone/>
            </a:pPr>
            <a:r>
              <a:rPr lang="en-US" sz="1400" b="1" dirty="0">
                <a:solidFill>
                  <a:schemeClr val="accent1"/>
                </a:solidFill>
              </a:rPr>
              <a:t> Data Loading &amp; Inspection</a:t>
            </a:r>
          </a:p>
        </p:txBody>
      </p:sp>
      <p:sp>
        <p:nvSpPr>
          <p:cNvPr id="4" name="Member 1 description"/>
          <p:cNvSpPr/>
          <p:nvPr/>
        </p:nvSpPr>
        <p:spPr>
          <a:xfrm>
            <a:off x="411480" y="1280160"/>
            <a:ext cx="3291840" cy="2971800"/>
          </a:xfrm>
          <a:prstGeom prst="roundRect">
            <a:avLst>
              <a:gd name="adj" fmla="val 3243"/>
            </a:avLst>
          </a:prstGeom>
          <a:solidFill>
            <a:schemeClr val="bg2"/>
          </a:solidFill>
          <a:ln w="9525">
            <a:solidFill>
              <a:schemeClr val="accent4"/>
            </a:solidFill>
            <a:prstDash val="solid"/>
          </a:ln>
        </p:spPr>
        <p:txBody>
          <a:bodyPr wrap="square" lIns="137160" tIns="137160" rIns="137160" bIns="137160" rtlCol="0" anchor="t"/>
          <a:lstStyle/>
          <a:p>
            <a:pPr marL="0" indent="0">
              <a:spcAft>
                <a:spcPts val="600"/>
              </a:spcAft>
              <a:buNone/>
            </a:pPr>
            <a:r>
              <a:rPr lang="en-US" sz="1200" b="1" dirty="0">
                <a:solidFill>
                  <a:schemeClr val="accent1"/>
                </a:solidFill>
              </a:rPr>
              <a:t>What this step does</a:t>
            </a:r>
          </a:p>
          <a:p>
            <a:pPr marL="171450" indent="-171450">
              <a:spcAft>
                <a:spcPts val="600"/>
              </a:spcAft>
              <a:buSzPct val="100000"/>
              <a:buChar char="•"/>
            </a:pPr>
            <a:r>
              <a:rPr lang="en-US" sz="1200" dirty="0">
                <a:solidFill>
                  <a:schemeClr val="tx1"/>
                </a:solidFill>
              </a:rPr>
              <a:t>Loads student-mat.csv (semicolon-separated) into a Pandas DataFrame</a:t>
            </a:r>
          </a:p>
          <a:p>
            <a:pPr marL="171450" indent="-171450">
              <a:spcAft>
                <a:spcPts val="600"/>
              </a:spcAft>
              <a:buSzPct val="100000"/>
              <a:buChar char="•"/>
            </a:pPr>
            <a:r>
              <a:rPr lang="en-US" sz="1200" dirty="0">
                <a:solidFill>
                  <a:schemeClr val="tx1"/>
                </a:solidFill>
              </a:rPr>
              <a:t>Checks the dataset shape: 395 rows × 33 columns</a:t>
            </a:r>
          </a:p>
          <a:p>
            <a:pPr marL="171450" indent="-171450">
              <a:spcAft>
                <a:spcPts val="600"/>
              </a:spcAft>
              <a:buSzPct val="100000"/>
              <a:buChar char="•"/>
            </a:pPr>
            <a:r>
              <a:rPr lang="en-US" sz="1200" dirty="0">
                <a:solidFill>
                  <a:schemeClr val="tx1"/>
                </a:solidFill>
              </a:rPr>
              <a:t>Previews the first 5 rows with head()</a:t>
            </a:r>
          </a:p>
          <a:p>
            <a:pPr marL="171450" indent="-171450">
              <a:spcAft>
                <a:spcPts val="600"/>
              </a:spcAft>
              <a:buSzPct val="100000"/>
              <a:buChar char="•"/>
            </a:pPr>
            <a:r>
              <a:rPr lang="en-US" sz="1200" dirty="0">
                <a:solidFill>
                  <a:schemeClr val="tx1"/>
                </a:solidFill>
              </a:rPr>
              <a:t>Reviews column types and non-null counts with info()</a:t>
            </a:r>
          </a:p>
          <a:p>
            <a:pPr marL="171450" indent="-171450">
              <a:spcAft>
                <a:spcPts val="600"/>
              </a:spcAft>
              <a:buSzPct val="100000"/>
              <a:buChar char="•"/>
            </a:pPr>
            <a:r>
              <a:rPr lang="en-US" sz="1200" dirty="0">
                <a:solidFill>
                  <a:schemeClr val="tx1"/>
                </a:solidFill>
              </a:rPr>
              <a:t>Summarises every numeric column with describe()</a:t>
            </a:r>
          </a:p>
        </p:txBody>
      </p:sp>
      <p:sp>
        <p:nvSpPr>
          <p:cNvPr id="5" name="Member 1 code"/>
          <p:cNvSpPr txBox="1"/>
          <p:nvPr/>
        </p:nvSpPr>
        <p:spPr>
          <a:xfrm>
            <a:off x="3794760" y="1280160"/>
            <a:ext cx="4937760" cy="2971800"/>
          </a:xfrm>
          <a:prstGeom prst="roundRect">
            <a:avLst>
              <a:gd name="adj" fmla="val 3704"/>
            </a:avLst>
          </a:prstGeom>
          <a:solidFill>
            <a:schemeClr val="tx1"/>
          </a:solidFill>
          <a:ln/>
        </p:spPr>
        <p:txBody>
          <a:bodyPr wrap="square" lIns="137160" tIns="137160" rIns="137160" bIns="137160" rtlCol="0" anchor="t"/>
          <a:lstStyle/>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import pandas as pd</a:t>
            </a: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df = pd.read_csv("student-mat.csv", sep=";")</a:t>
            </a: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print("Dataset loaded successfully!")</a:t>
            </a:r>
          </a:p>
          <a:p>
            <a:pPr marL="0" indent="0">
              <a:buNone/>
            </a:pPr>
            <a:endParaRPr lang="en-US" sz="1000" dirty="0">
              <a:latin typeface="Consolas" pitchFamily="34" charset="0"/>
              <a:ea typeface="Consolas" pitchFamily="34" charset="-122"/>
              <a:cs typeface="Consolas" pitchFamily="34" charset="-120"/>
            </a:endParaRP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print("\nDataset Shape:", df.shape)</a:t>
            </a:r>
          </a:p>
          <a:p>
            <a:pPr marL="0" indent="0">
              <a:buNone/>
            </a:pPr>
            <a:endParaRPr lang="en-US" sz="1000" dirty="0">
              <a:latin typeface="Consolas" pitchFamily="34" charset="0"/>
              <a:ea typeface="Consolas" pitchFamily="34" charset="-122"/>
              <a:cs typeface="Consolas" pitchFamily="34" charset="-120"/>
            </a:endParaRP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print("\nFirst 5 Rows:")</a:t>
            </a: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display(df.head())</a:t>
            </a:r>
          </a:p>
          <a:p>
            <a:pPr marL="0" indent="0">
              <a:buNone/>
            </a:pPr>
            <a:endParaRPr lang="en-US" sz="1000" dirty="0">
              <a:latin typeface="Consolas" pitchFamily="34" charset="0"/>
              <a:ea typeface="Consolas" pitchFamily="34" charset="-122"/>
              <a:cs typeface="Consolas" pitchFamily="34" charset="-120"/>
            </a:endParaRP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print("\nDataset Information:")</a:t>
            </a: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df.info()</a:t>
            </a:r>
          </a:p>
          <a:p>
            <a:pPr marL="0" indent="0">
              <a:buNone/>
            </a:pPr>
            <a:endParaRPr lang="en-US" sz="1000" dirty="0">
              <a:latin typeface="Consolas" pitchFamily="34" charset="0"/>
              <a:ea typeface="Consolas" pitchFamily="34" charset="-122"/>
              <a:cs typeface="Consolas" pitchFamily="34" charset="-120"/>
            </a:endParaRP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print("\nStatistical Summary:")</a:t>
            </a:r>
          </a:p>
          <a:p>
            <a:pPr marL="0" indent="0">
              <a:lnSpc>
                <a:spcPct val="100000"/>
              </a:lnSpc>
              <a:buNone/>
            </a:pPr>
            <a:r>
              <a:rPr lang="en-US" sz="1000" dirty="0">
                <a:solidFill>
                  <a:schemeClr val="bg1"/>
                </a:solidFill>
                <a:latin typeface="Consolas" pitchFamily="34" charset="0"/>
                <a:ea typeface="Consolas" pitchFamily="34" charset="-122"/>
                <a:cs typeface="Consolas" pitchFamily="34" charset="-120"/>
              </a:rPr>
              <a:t>display(df.describe())</a:t>
            </a:r>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Data Cleaning &amp; Preprocessing</a:t>
            </a:r>
            <a:endParaRPr lang="en-US" sz="2600" dirty="0"/>
          </a:p>
        </p:txBody>
      </p:sp>
      <p:sp>
        <p:nvSpPr>
          <p:cNvPr id="3" name="Member label"/>
          <p:cNvSpPr txBox="1"/>
          <p:nvPr/>
        </p:nvSpPr>
        <p:spPr>
          <a:xfrm>
            <a:off x="411480" y="868680"/>
            <a:ext cx="8321040" cy="274320"/>
          </a:xfrm>
          <a:prstGeom prst="rect">
            <a:avLst/>
          </a:prstGeom>
          <a:noFill/>
          <a:ln/>
        </p:spPr>
        <p:txBody>
          <a:bodyPr wrap="square" lIns="0" tIns="0" rIns="0" bIns="0" rtlCol="0" anchor="ctr"/>
          <a:lstStyle/>
          <a:p>
            <a:pPr marL="0" indent="0">
              <a:spcAft>
                <a:spcPts val="0"/>
              </a:spcAft>
              <a:buNone/>
            </a:pPr>
            <a:r>
              <a:rPr lang="en-US" sz="1400" b="1" dirty="0">
                <a:solidFill>
                  <a:schemeClr val="accent1"/>
                </a:solidFill>
              </a:rPr>
              <a:t>Data Cleaning &amp; Standardization</a:t>
            </a:r>
          </a:p>
        </p:txBody>
      </p:sp>
      <p:sp>
        <p:nvSpPr>
          <p:cNvPr id="4" name="Step 1"/>
          <p:cNvSpPr/>
          <p:nvPr/>
        </p:nvSpPr>
        <p:spPr>
          <a:xfrm>
            <a:off x="411480" y="1216152"/>
            <a:ext cx="1591056" cy="868680"/>
          </a:xfrm>
          <a:prstGeom prst="roundRect">
            <a:avLst>
              <a:gd name="adj" fmla="val 3243"/>
            </a:avLst>
          </a:prstGeom>
          <a:solidFill>
            <a:schemeClr val="bg2"/>
          </a:solidFill>
          <a:ln w="9525">
            <a:solidFill>
              <a:schemeClr val="accent4"/>
            </a:solidFill>
            <a:prstDash val="solid"/>
          </a:ln>
        </p:spPr>
        <p:txBody>
          <a:bodyPr wrap="square" lIns="91440" tIns="91440" rIns="91440" bIns="91440" rtlCol="0" anchor="t"/>
          <a:lstStyle/>
          <a:p>
            <a:pPr marL="0" indent="0">
              <a:spcAft>
                <a:spcPts val="200"/>
              </a:spcAft>
              <a:buNone/>
            </a:pPr>
            <a:r>
              <a:rPr lang="en-US" sz="1100" b="1" dirty="0">
                <a:solidFill>
                  <a:schemeClr val="accent1"/>
                </a:solidFill>
              </a:rPr>
              <a:t>Missing values</a:t>
            </a:r>
          </a:p>
          <a:p>
            <a:pPr marL="0" indent="0">
              <a:spcAft>
                <a:spcPts val="0"/>
              </a:spcAft>
              <a:buNone/>
            </a:pPr>
            <a:r>
              <a:rPr lang="en-US" sz="1000" dirty="0">
                <a:solidFill>
                  <a:schemeClr val="tx1"/>
                </a:solidFill>
              </a:rPr>
              <a:t>Median fill for age, absences, G3; mode fill for sex, address</a:t>
            </a:r>
          </a:p>
        </p:txBody>
      </p:sp>
      <p:sp>
        <p:nvSpPr>
          <p:cNvPr id="5" name="Step 2"/>
          <p:cNvSpPr/>
          <p:nvPr/>
        </p:nvSpPr>
        <p:spPr>
          <a:xfrm>
            <a:off x="2093976" y="1216152"/>
            <a:ext cx="1591056" cy="868680"/>
          </a:xfrm>
          <a:prstGeom prst="roundRect">
            <a:avLst>
              <a:gd name="adj" fmla="val 3243"/>
            </a:avLst>
          </a:prstGeom>
          <a:solidFill>
            <a:schemeClr val="bg2"/>
          </a:solidFill>
          <a:ln w="9525">
            <a:solidFill>
              <a:schemeClr val="accent4"/>
            </a:solidFill>
            <a:prstDash val="solid"/>
          </a:ln>
        </p:spPr>
        <p:txBody>
          <a:bodyPr wrap="square" lIns="91440" tIns="91440" rIns="91440" bIns="91440" rtlCol="0" anchor="t"/>
          <a:lstStyle/>
          <a:p>
            <a:pPr marL="0" indent="0">
              <a:spcAft>
                <a:spcPts val="200"/>
              </a:spcAft>
              <a:buNone/>
            </a:pPr>
            <a:r>
              <a:rPr lang="en-US" sz="1100" b="1" dirty="0">
                <a:solidFill>
                  <a:schemeClr val="accent1"/>
                </a:solidFill>
              </a:rPr>
              <a:t>Formats</a:t>
            </a:r>
          </a:p>
          <a:p>
            <a:pPr marL="0" indent="0">
              <a:spcAft>
                <a:spcPts val="0"/>
              </a:spcAft>
              <a:buNone/>
            </a:pPr>
            <a:r>
              <a:rPr lang="en-US" sz="1000" dirty="0">
                <a:solidFill>
                  <a:schemeClr val="tx1"/>
                </a:solidFill>
              </a:rPr>
              <a:t>Lowercase and trim text; f/m → female/male, u/r → urban/rural</a:t>
            </a:r>
          </a:p>
        </p:txBody>
      </p:sp>
      <p:sp>
        <p:nvSpPr>
          <p:cNvPr id="6" name="Step 3"/>
          <p:cNvSpPr/>
          <p:nvPr/>
        </p:nvSpPr>
        <p:spPr>
          <a:xfrm>
            <a:off x="3776472" y="1216152"/>
            <a:ext cx="1591056" cy="868680"/>
          </a:xfrm>
          <a:prstGeom prst="roundRect">
            <a:avLst>
              <a:gd name="adj" fmla="val 3243"/>
            </a:avLst>
          </a:prstGeom>
          <a:solidFill>
            <a:schemeClr val="bg2"/>
          </a:solidFill>
          <a:ln w="9525">
            <a:solidFill>
              <a:schemeClr val="accent4"/>
            </a:solidFill>
            <a:prstDash val="solid"/>
          </a:ln>
        </p:spPr>
        <p:txBody>
          <a:bodyPr wrap="square" lIns="91440" tIns="91440" rIns="91440" bIns="91440" rtlCol="0" anchor="t"/>
          <a:lstStyle/>
          <a:p>
            <a:pPr marL="0" indent="0">
              <a:spcAft>
                <a:spcPts val="200"/>
              </a:spcAft>
              <a:buNone/>
            </a:pPr>
            <a:r>
              <a:rPr lang="en-US" sz="1100" b="1" dirty="0">
                <a:solidFill>
                  <a:schemeClr val="accent1"/>
                </a:solidFill>
              </a:rPr>
              <a:t>Duplicates</a:t>
            </a:r>
          </a:p>
          <a:p>
            <a:pPr marL="0" indent="0">
              <a:spcAft>
                <a:spcPts val="0"/>
              </a:spcAft>
              <a:buNone/>
            </a:pPr>
            <a:r>
              <a:rPr lang="en-US" sz="1000" dirty="0">
                <a:solidFill>
                  <a:schemeClr val="tx1"/>
                </a:solidFill>
              </a:rPr>
              <a:t>Detect repeated rows and drop them, keeping the first</a:t>
            </a:r>
          </a:p>
        </p:txBody>
      </p:sp>
      <p:sp>
        <p:nvSpPr>
          <p:cNvPr id="7" name="Step 4"/>
          <p:cNvSpPr/>
          <p:nvPr/>
        </p:nvSpPr>
        <p:spPr>
          <a:xfrm>
            <a:off x="5458968" y="1216152"/>
            <a:ext cx="1591056" cy="868680"/>
          </a:xfrm>
          <a:prstGeom prst="roundRect">
            <a:avLst>
              <a:gd name="adj" fmla="val 3243"/>
            </a:avLst>
          </a:prstGeom>
          <a:solidFill>
            <a:schemeClr val="bg2"/>
          </a:solidFill>
          <a:ln w="9525">
            <a:solidFill>
              <a:schemeClr val="accent4"/>
            </a:solidFill>
            <a:prstDash val="solid"/>
          </a:ln>
        </p:spPr>
        <p:txBody>
          <a:bodyPr wrap="square" lIns="91440" tIns="91440" rIns="91440" bIns="91440" rtlCol="0" anchor="t"/>
          <a:lstStyle/>
          <a:p>
            <a:pPr marL="0" indent="0">
              <a:spcAft>
                <a:spcPts val="200"/>
              </a:spcAft>
              <a:buNone/>
            </a:pPr>
            <a:r>
              <a:rPr lang="en-US" sz="1100" b="1" dirty="0">
                <a:solidFill>
                  <a:schemeClr val="accent1"/>
                </a:solidFill>
              </a:rPr>
              <a:t>Data types</a:t>
            </a:r>
          </a:p>
          <a:p>
            <a:pPr marL="0" indent="0">
              <a:spcAft>
                <a:spcPts val="0"/>
              </a:spcAft>
              <a:buNone/>
            </a:pPr>
            <a:r>
              <a:rPr lang="en-US" sz="1000" dirty="0">
                <a:solidFill>
                  <a:schemeClr val="tx1"/>
                </a:solidFill>
              </a:rPr>
              <a:t>Cast age, absences and G3 to int64</a:t>
            </a:r>
          </a:p>
        </p:txBody>
      </p:sp>
      <p:sp>
        <p:nvSpPr>
          <p:cNvPr id="8" name="Step 5"/>
          <p:cNvSpPr/>
          <p:nvPr/>
        </p:nvSpPr>
        <p:spPr>
          <a:xfrm>
            <a:off x="7141464" y="1216152"/>
            <a:ext cx="1591056" cy="868680"/>
          </a:xfrm>
          <a:prstGeom prst="roundRect">
            <a:avLst>
              <a:gd name="adj" fmla="val 3243"/>
            </a:avLst>
          </a:prstGeom>
          <a:solidFill>
            <a:schemeClr val="bg2"/>
          </a:solidFill>
          <a:ln w="9525">
            <a:solidFill>
              <a:schemeClr val="accent4"/>
            </a:solidFill>
            <a:prstDash val="solid"/>
          </a:ln>
        </p:spPr>
        <p:txBody>
          <a:bodyPr wrap="square" lIns="91440" tIns="91440" rIns="91440" bIns="91440" rtlCol="0" anchor="t"/>
          <a:lstStyle/>
          <a:p>
            <a:pPr marL="0" indent="0">
              <a:spcAft>
                <a:spcPts val="200"/>
              </a:spcAft>
              <a:buNone/>
            </a:pPr>
            <a:r>
              <a:rPr lang="en-US" sz="1100" b="1" dirty="0">
                <a:solidFill>
                  <a:schemeClr val="accent1"/>
                </a:solidFill>
              </a:rPr>
              <a:t>Outliers</a:t>
            </a:r>
          </a:p>
          <a:p>
            <a:pPr marL="0" indent="0">
              <a:spcAft>
                <a:spcPts val="0"/>
              </a:spcAft>
              <a:buNone/>
            </a:pPr>
            <a:r>
              <a:rPr lang="en-US" sz="1000" dirty="0">
                <a:solidFill>
                  <a:schemeClr val="tx1"/>
                </a:solidFill>
              </a:rPr>
              <a:t>Drop rows with Z-score &gt; 3 on age, absences, G3</a:t>
            </a:r>
          </a:p>
        </p:txBody>
      </p:sp>
      <p:sp>
        <p:nvSpPr>
          <p:cNvPr id="9" name="Member 2 code part 1"/>
          <p:cNvSpPr txBox="1"/>
          <p:nvPr/>
        </p:nvSpPr>
        <p:spPr>
          <a:xfrm>
            <a:off x="411480" y="2176272"/>
            <a:ext cx="4114800" cy="2514600"/>
          </a:xfrm>
          <a:prstGeom prst="roundRect">
            <a:avLst>
              <a:gd name="adj" fmla="val 3704"/>
            </a:avLst>
          </a:prstGeom>
          <a:solidFill>
            <a:schemeClr val="tx1"/>
          </a:solidFill>
          <a:ln/>
        </p:spPr>
        <p:txBody>
          <a:bodyPr wrap="square" lIns="91440" tIns="91440" rIns="91440" bIns="91440" rtlCol="0" anchor="t"/>
          <a:lstStyle/>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import pandas as pd</a:t>
            </a:r>
          </a:p>
          <a:p>
            <a:pPr marL="0" indent="0">
              <a:lnSpc>
                <a:spcPct val="100000"/>
              </a:lnSpc>
              <a:buNone/>
            </a:pPr>
            <a:r>
              <a:rPr lang="en-US" sz="700" b="1" dirty="0">
                <a:solidFill>
                  <a:schemeClr val="accent2"/>
                </a:solidFill>
                <a:latin typeface="Consolas" pitchFamily="34" charset="0"/>
                <a:ea typeface="Consolas" pitchFamily="34" charset="-122"/>
                <a:cs typeface="Consolas" pitchFamily="34" charset="-120"/>
              </a:rPr>
              <a:t>#Handling Missing Values</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print("Missing values percentage:\n", df.isnull().sum() / len(df) * 100)</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age_median = int(df['age'].dropna().astype('int64').median())</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absences_median = int(df['absences'].dropna().astype('int64').median())</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g3_median = int(df['G3'].dropna().astype('int64').median())</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df.fillna({'age': age_median, 'absences': absences_median, 'G3': g3_median}, inplace=True)</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sex_mode = df['sex'].mode()[0]</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address_mode = df['address'].mode()[0]</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df.fillna({'sex': sex_mode, 'address': address_mode}, inplace=True)</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print("\nMissing values after treatment:\n", df.isnull().sum())</a:t>
            </a:r>
          </a:p>
          <a:p>
            <a:pPr marL="0" indent="0">
              <a:buNone/>
            </a:pPr>
            <a:endParaRPr lang="en-US" sz="700" dirty="0">
              <a:latin typeface="Consolas" pitchFamily="34" charset="0"/>
              <a:ea typeface="Consolas" pitchFamily="34" charset="-122"/>
              <a:cs typeface="Consolas" pitchFamily="34" charset="-120"/>
            </a:endParaRPr>
          </a:p>
          <a:p>
            <a:pPr marL="0" indent="0">
              <a:lnSpc>
                <a:spcPct val="100000"/>
              </a:lnSpc>
              <a:buNone/>
            </a:pPr>
            <a:r>
              <a:rPr lang="en-US" sz="700" b="1" dirty="0">
                <a:solidFill>
                  <a:schemeClr val="accent2"/>
                </a:solidFill>
                <a:latin typeface="Consolas" pitchFamily="34" charset="0"/>
                <a:ea typeface="Consolas" pitchFamily="34" charset="-122"/>
                <a:cs typeface="Consolas" pitchFamily="34" charset="-120"/>
              </a:rPr>
              <a:t>#Fixing Inconsistent Formats</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print("Unique 'sex' values before cleaning:", df['sex'].unique())</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df['sex'] = df['sex'].str.lower().str.strip()</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df['address'] = df['address'].str.lower().str.strip()</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df.replace({'sex': {'f': 'female', 'm': 'male'}}, inplace=True)</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df.replace({'address': {'u': 'urban', 'r': 'rural'}}, inplace=True)</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print("Unique 'sex' values after cleaning:", df['sex'].unique())</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print("Formats standardized.")</a:t>
            </a:r>
          </a:p>
        </p:txBody>
      </p:sp>
      <p:sp>
        <p:nvSpPr>
          <p:cNvPr id="10" name="Member 2 code part 2"/>
          <p:cNvSpPr txBox="1"/>
          <p:nvPr/>
        </p:nvSpPr>
        <p:spPr>
          <a:xfrm>
            <a:off x="4617720" y="2176272"/>
            <a:ext cx="4114800" cy="2514600"/>
          </a:xfrm>
          <a:prstGeom prst="roundRect">
            <a:avLst>
              <a:gd name="adj" fmla="val 3704"/>
            </a:avLst>
          </a:prstGeom>
          <a:solidFill>
            <a:schemeClr val="tx1"/>
          </a:solidFill>
          <a:ln/>
        </p:spPr>
        <p:txBody>
          <a:bodyPr wrap="square" lIns="91440" tIns="91440" rIns="91440" bIns="91440" rtlCol="0" anchor="t"/>
          <a:lstStyle/>
          <a:p>
            <a:pPr marL="0" indent="0">
              <a:lnSpc>
                <a:spcPct val="100000"/>
              </a:lnSpc>
              <a:buNone/>
            </a:pPr>
            <a:r>
              <a:rPr lang="en-US" sz="700" b="1" dirty="0">
                <a:solidFill>
                  <a:schemeClr val="accent2"/>
                </a:solidFill>
                <a:latin typeface="Consolas" pitchFamily="34" charset="0"/>
                <a:ea typeface="Consolas" pitchFamily="34" charset="-122"/>
                <a:cs typeface="Consolas" pitchFamily="34" charset="-120"/>
              </a:rPr>
              <a:t>print("***Handling Duplicates***")</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print("Duplicates found:", df[df.duplicated()].shape[0])</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df.drop_duplicates(keep='first', inplace=True)</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print("Dataset shape after duplicate removal:", df.shape)</a:t>
            </a:r>
          </a:p>
          <a:p>
            <a:pPr marL="0" indent="0">
              <a:buNone/>
            </a:pPr>
            <a:endParaRPr lang="en-US" sz="700" dirty="0">
              <a:latin typeface="Consolas" pitchFamily="34" charset="0"/>
              <a:ea typeface="Consolas" pitchFamily="34" charset="-122"/>
              <a:cs typeface="Consolas" pitchFamily="34" charset="-120"/>
            </a:endParaRPr>
          </a:p>
          <a:p>
            <a:pPr marL="0" indent="0">
              <a:lnSpc>
                <a:spcPct val="100000"/>
              </a:lnSpc>
              <a:buNone/>
            </a:pPr>
            <a:r>
              <a:rPr lang="en-US" sz="700" b="1" dirty="0">
                <a:solidFill>
                  <a:schemeClr val="accent2"/>
                </a:solidFill>
                <a:latin typeface="Consolas" pitchFamily="34" charset="0"/>
                <a:ea typeface="Consolas" pitchFamily="34" charset="-122"/>
                <a:cs typeface="Consolas" pitchFamily="34" charset="-120"/>
              </a:rPr>
              <a:t>print("***Correcting datatype***")</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df['age'] = df['age'].astype('int64')</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df['absences'] = df['absences'].astype('int64')</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df['G3'] = df['G3'].astype('int64')</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print(df[['age', 'absences', 'G3']].dtypes)</a:t>
            </a:r>
          </a:p>
          <a:p>
            <a:pPr marL="0" indent="0">
              <a:buNone/>
            </a:pPr>
            <a:endParaRPr lang="en-US" sz="700" dirty="0">
              <a:latin typeface="Consolas" pitchFamily="34" charset="0"/>
              <a:ea typeface="Consolas" pitchFamily="34" charset="-122"/>
              <a:cs typeface="Consolas" pitchFamily="34" charset="-120"/>
            </a:endParaRP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import numpy as np</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from scipy import stats</a:t>
            </a:r>
          </a:p>
          <a:p>
            <a:pPr marL="0" indent="0">
              <a:lnSpc>
                <a:spcPct val="100000"/>
              </a:lnSpc>
              <a:buNone/>
            </a:pPr>
            <a:r>
              <a:rPr lang="en-US" sz="700" b="1" dirty="0">
                <a:solidFill>
                  <a:schemeClr val="accent2"/>
                </a:solidFill>
                <a:latin typeface="Consolas" pitchFamily="34" charset="0"/>
                <a:ea typeface="Consolas" pitchFamily="34" charset="-122"/>
                <a:cs typeface="Consolas" pitchFamily="34" charset="-120"/>
              </a:rPr>
              <a:t>print("***Handling Outliers***")</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z_scores = np.abs(stats.zscore(df[['age', 'absences', 'G3']]))</a:t>
            </a:r>
          </a:p>
          <a:p>
            <a:pPr marL="0" indent="0">
              <a:lnSpc>
                <a:spcPct val="100000"/>
              </a:lnSpc>
              <a:buNone/>
            </a:pPr>
            <a:r>
              <a:rPr lang="en-US" sz="700" dirty="0">
                <a:solidFill>
                  <a:schemeClr val="accent1"/>
                </a:solidFill>
                <a:latin typeface="Consolas" pitchFamily="34" charset="0"/>
                <a:ea typeface="Consolas" pitchFamily="34" charset="-122"/>
                <a:cs typeface="Consolas" pitchFamily="34" charset="-120"/>
              </a:rPr>
              <a:t>df_clean = df[~(z_scores &gt; 3).any(axis=1)]</a:t>
            </a:r>
          </a:p>
          <a:p>
            <a:pPr marL="0" indent="0">
              <a:lnSpc>
                <a:spcPct val="100000"/>
              </a:lnSpc>
              <a:buNone/>
            </a:pPr>
            <a:r>
              <a:rPr lang="en-US" sz="700" dirty="0">
                <a:solidFill>
                  <a:schemeClr val="bg1"/>
                </a:solidFill>
                <a:latin typeface="Consolas" pitchFamily="34" charset="0"/>
                <a:ea typeface="Consolas" pitchFamily="34" charset="-122"/>
                <a:cs typeface="Consolas" pitchFamily="34" charset="-120"/>
              </a:rPr>
              <a:t>print("Cleaned dataset shape:", df_clean.shape)</a:t>
            </a:r>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Univariate Analysis &amp; Outliers </a:t>
            </a:r>
            <a:endParaRPr lang="en-US" sz="2600" dirty="0"/>
          </a:p>
        </p:txBody>
      </p:sp>
      <p:sp>
        <p:nvSpPr>
          <p:cNvPr id="3" name="Member 3 code"/>
          <p:cNvSpPr txBox="1"/>
          <p:nvPr/>
        </p:nvSpPr>
        <p:spPr>
          <a:xfrm>
            <a:off x="411480" y="914400"/>
            <a:ext cx="4297680" cy="2926080"/>
          </a:xfrm>
          <a:prstGeom prst="roundRect">
            <a:avLst>
              <a:gd name="adj" fmla="val 1694"/>
            </a:avLst>
          </a:prstGeom>
          <a:solidFill>
            <a:schemeClr val="tx1"/>
          </a:solidFill>
          <a:ln/>
        </p:spPr>
        <p:txBody>
          <a:bodyPr wrap="square" lIns="1270" tIns="1524" rIns="1524" bIns="1270" rtlCol="0" anchor="t"/>
          <a:lstStyle/>
          <a:p>
            <a:pPr marL="0" indent="0">
              <a:lnSpc>
                <a:spcPct val="100000"/>
              </a:lnSpc>
              <a:buNone/>
            </a:pPr>
            <a:r>
              <a:rPr lang="en-US" sz="650" dirty="0">
                <a:solidFill>
                  <a:schemeClr val="accent2"/>
                </a:solidFill>
                <a:latin typeface="Consolas" pitchFamily="34" charset="0"/>
                <a:ea typeface="Consolas" pitchFamily="34" charset="-122"/>
                <a:cs typeface="Consolas" pitchFamily="34" charset="-120"/>
              </a:rPr>
              <a:t># A. Grades distribution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fig, axes = plt.subplots(1, 3, figsize=(15, 4))</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sns.histplot(df['G1'], kde=True, ax=axes[0],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color='skyblue').set_title('G1 Grade Distribution')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sns.histplot(df['G2'], kde=True, ax=axes[1],</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color='salmon').set_title('G2 Grade Distribution')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sns.histplot(df['G3'], kde=True, ax=axes[2],</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color='purple').set_title('G3 Final Grade Distribution')</a:t>
            </a:r>
            <a:endParaRPr lang="en-US" sz="650" dirty="0"/>
          </a:p>
          <a:p>
            <a:pPr marL="0" indent="0">
              <a:lnSpc>
                <a:spcPct val="100000"/>
              </a:lnSpc>
              <a:buNone/>
            </a:pPr>
            <a:r>
              <a:rPr lang="en-US" sz="650" dirty="0">
                <a:solidFill>
                  <a:schemeClr val="accent2"/>
                </a:solidFill>
                <a:latin typeface="Consolas" pitchFamily="34" charset="0"/>
                <a:ea typeface="Consolas" pitchFamily="34" charset="-122"/>
                <a:cs typeface="Consolas" pitchFamily="34" charset="-120"/>
              </a:rPr>
              <a:t># B. IQR-based outlier detection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num_cols = ['age', 'absences', 'G1', 'G2', 'G3']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for col in num_cols:</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Q1 = df[col].quantile(0.25)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Q3 = df[col].quantile(0.75)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IQR = Q3 - Q1</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outliers = df[(df[col] &lt; (Q1 - 1.5 * IQR)) |</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(df[col] &gt; (Q3 + 1.5 * IQR))]</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print(f"Column '{col}': {len(outliers)} outliers detected")</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plt.figure(figsize=(10, 4))</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sns.boxplot(data=df[num_cols], palette='Set3')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plt.title('Outliers Visualisation Across Numerical Features')</a:t>
            </a:r>
            <a:endParaRPr lang="en-US" sz="650" dirty="0"/>
          </a:p>
          <a:p>
            <a:pPr marL="0" indent="0">
              <a:lnSpc>
                <a:spcPct val="100000"/>
              </a:lnSpc>
              <a:buNone/>
            </a:pPr>
            <a:r>
              <a:rPr lang="en-US" sz="650" dirty="0">
                <a:solidFill>
                  <a:schemeClr val="accent2"/>
                </a:solidFill>
                <a:latin typeface="Consolas" pitchFamily="34" charset="0"/>
                <a:ea typeface="Consolas" pitchFamily="34" charset="-122"/>
                <a:cs typeface="Consolas" pitchFamily="34" charset="-120"/>
              </a:rPr>
              <a:t># C. Categorical feature distributions</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fig, axes = plt.subplots(1, 3, figsize=(15, 4))</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sns.countplot(x='sex', data=df, ax=axes[0],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palette='pastel').set_title('Gender Distribution')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sns.countplot(x='address', data=df, ax=axes[1],</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palette='pastel').set_title('Address (Urban vs Rural)')</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sns.countplot(x='studytime', data=df, ax=axes[2],</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palette='pastel').set_title('Weekly Study Time')</a:t>
            </a:r>
            <a:endParaRPr lang="en-US" sz="650" dirty="0"/>
          </a:p>
        </p:txBody>
      </p:sp>
      <p:sp>
        <p:nvSpPr>
          <p:cNvPr id="4" name="Member 3 takeaway"/>
          <p:cNvSpPr txBox="1"/>
          <p:nvPr/>
        </p:nvSpPr>
        <p:spPr>
          <a:xfrm>
            <a:off x="411480" y="4352544"/>
            <a:ext cx="4297680" cy="365760"/>
          </a:xfrm>
          <a:prstGeom prst="rect">
            <a:avLst/>
          </a:prstGeom>
          <a:noFill/>
          <a:ln/>
        </p:spPr>
        <p:txBody>
          <a:bodyPr wrap="square" lIns="0" tIns="0" rIns="0" bIns="0" rtlCol="0" anchor="t"/>
          <a:lstStyle/>
          <a:p>
            <a:pPr marL="0" indent="0">
              <a:buNone/>
            </a:pPr>
            <a:r>
              <a:rPr lang="en-US" sz="1000" b="1" dirty="0">
                <a:solidFill>
                  <a:schemeClr val="accent1"/>
                </a:solidFill>
              </a:rPr>
              <a:t>IQR flags 38 outliers in G3 (students with a final grade of 0), 13 in G2 and 9 in absences; age and G1 have none.</a:t>
            </a:r>
            <a:endParaRPr lang="en-US" sz="1000" dirty="0"/>
          </a:p>
        </p:txBody>
      </p:sp>
      <p:sp>
        <p:nvSpPr>
          <p:cNvPr id="5" name="Grade distributions frame"/>
          <p:cNvSpPr/>
          <p:nvPr/>
        </p:nvSpPr>
        <p:spPr>
          <a:xfrm>
            <a:off x="4892040" y="914400"/>
            <a:ext cx="3840480" cy="1005840"/>
          </a:xfrm>
          <a:prstGeom prst="roundRect">
            <a:avLst>
              <a:gd name="adj" fmla="val 5455"/>
            </a:avLst>
          </a:prstGeom>
          <a:solidFill>
            <a:schemeClr val="bg2"/>
          </a:solidFill>
          <a:ln w="9525">
            <a:solidFill>
              <a:schemeClr val="accent4"/>
            </a:solidFill>
            <a:prstDash val="solid"/>
          </a:ln>
        </p:spPr>
      </p:sp>
      <p:pic>
        <p:nvPicPr>
          <p:cNvPr id="6" name="Grade distributions" descr="Grade distributions"/>
          <p:cNvPicPr>
            <a:picLocks noChangeAspect="1"/>
          </p:cNvPicPr>
          <p:nvPr/>
        </p:nvPicPr>
        <p:blipFill>
          <a:blip r:embed="rId3"/>
          <a:stretch>
            <a:fillRect/>
          </a:stretch>
        </p:blipFill>
        <p:spPr>
          <a:xfrm>
            <a:off x="5017829" y="960120"/>
            <a:ext cx="3588902" cy="914400"/>
          </a:xfrm>
          <a:prstGeom prst="rect">
            <a:avLst/>
          </a:prstGeom>
        </p:spPr>
      </p:pic>
      <p:sp>
        <p:nvSpPr>
          <p:cNvPr id="7" name="IQR outliers and boxplots frame"/>
          <p:cNvSpPr/>
          <p:nvPr/>
        </p:nvSpPr>
        <p:spPr>
          <a:xfrm>
            <a:off x="4892040" y="2011680"/>
            <a:ext cx="3840480" cy="1783080"/>
          </a:xfrm>
          <a:prstGeom prst="roundRect">
            <a:avLst>
              <a:gd name="adj" fmla="val 3077"/>
            </a:avLst>
          </a:prstGeom>
          <a:solidFill>
            <a:schemeClr val="bg2"/>
          </a:solidFill>
          <a:ln w="9525">
            <a:solidFill>
              <a:schemeClr val="accent4"/>
            </a:solidFill>
            <a:prstDash val="solid"/>
          </a:ln>
        </p:spPr>
      </p:sp>
      <p:pic>
        <p:nvPicPr>
          <p:cNvPr id="8" name="IQR outliers and boxplots" descr="IQR outliers and boxplots"/>
          <p:cNvPicPr>
            <a:picLocks noChangeAspect="1"/>
          </p:cNvPicPr>
          <p:nvPr/>
        </p:nvPicPr>
        <p:blipFill>
          <a:blip r:embed="rId4"/>
          <a:stretch>
            <a:fillRect/>
          </a:stretch>
        </p:blipFill>
        <p:spPr>
          <a:xfrm>
            <a:off x="5140310" y="2057400"/>
            <a:ext cx="3343940" cy="1691640"/>
          </a:xfrm>
          <a:prstGeom prst="rect">
            <a:avLst/>
          </a:prstGeom>
        </p:spPr>
      </p:pic>
      <p:sp>
        <p:nvSpPr>
          <p:cNvPr id="9" name="Categorical distributions frame"/>
          <p:cNvSpPr/>
          <p:nvPr/>
        </p:nvSpPr>
        <p:spPr>
          <a:xfrm>
            <a:off x="4892040" y="3886200"/>
            <a:ext cx="3840480" cy="868680"/>
          </a:xfrm>
          <a:prstGeom prst="roundRect">
            <a:avLst>
              <a:gd name="adj" fmla="val 6316"/>
            </a:avLst>
          </a:prstGeom>
          <a:solidFill>
            <a:schemeClr val="bg2"/>
          </a:solidFill>
          <a:ln w="9525">
            <a:solidFill>
              <a:schemeClr val="accent4"/>
            </a:solidFill>
            <a:prstDash val="solid"/>
          </a:ln>
        </p:spPr>
      </p:sp>
      <p:pic>
        <p:nvPicPr>
          <p:cNvPr id="10" name="Categorical distributions" descr="Categorical distributions"/>
          <p:cNvPicPr>
            <a:picLocks noChangeAspect="1"/>
          </p:cNvPicPr>
          <p:nvPr/>
        </p:nvPicPr>
        <p:blipFill>
          <a:blip r:embed="rId5"/>
          <a:stretch>
            <a:fillRect/>
          </a:stretch>
        </p:blipFill>
        <p:spPr>
          <a:xfrm>
            <a:off x="5326978" y="3931920"/>
            <a:ext cx="2970603" cy="777240"/>
          </a:xfrm>
          <a:prstGeom prst="rect">
            <a:avLst/>
          </a:prstGeom>
        </p:spPr>
      </p:pic>
      <p:sp>
        <p:nvSpPr>
          <p:cNvPr id="40" name="Univariate description"/>
          <p:cNvSpPr txBox="1"/>
          <p:nvPr/>
        </p:nvSpPr>
        <p:spPr>
          <a:xfrm>
            <a:off x="411480" y="3931920"/>
            <a:ext cx="4297680" cy="365760"/>
          </a:xfrm>
          <a:prstGeom prst="rect">
            <a:avLst/>
          </a:prstGeom>
          <a:noFill/>
          <a:ln/>
        </p:spPr>
        <p:txBody>
          <a:bodyPr wrap="square" lIns="0" tIns="0" rIns="0" bIns="0" rtlCol="0" anchor="t"/>
          <a:lstStyle/>
          <a:p>
            <a:pPr marL="0" indent="0">
              <a:buNone/>
            </a:pPr>
            <a:r>
              <a:rPr lang="en-US" sz="1000" b="1" dirty="0">
                <a:solidFill>
                  <a:schemeClr val="accent1"/>
                </a:solidFill>
              </a:rPr>
              <a:t>What it shows: </a:t>
            </a:r>
            <a:r>
              <a:rPr lang="en-US" sz="1000" dirty="0">
                <a:solidFill>
                  <a:schemeClr val="tx1"/>
                </a:solidFill>
              </a:rPr>
              <a:t>each variable on its own: grade histograms, IQR outlier checks on the numeric columns, and category counts.</a:t>
            </a:r>
            <a:endParaRPr lang="en-US" sz="10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Bivariate Analysis </a:t>
            </a:r>
            <a:endParaRPr lang="en-US" sz="2600" dirty="0"/>
          </a:p>
        </p:txBody>
      </p:sp>
      <p:sp>
        <p:nvSpPr>
          <p:cNvPr id="3" name="Member 4 bivariate code"/>
          <p:cNvSpPr txBox="1"/>
          <p:nvPr/>
        </p:nvSpPr>
        <p:spPr>
          <a:xfrm>
            <a:off x="411480" y="914400"/>
            <a:ext cx="4297680" cy="2176653"/>
          </a:xfrm>
          <a:prstGeom prst="roundRect">
            <a:avLst>
              <a:gd name="adj" fmla="val 2521"/>
            </a:avLst>
          </a:prstGeom>
          <a:solidFill>
            <a:schemeClr val="tx1"/>
          </a:solidFill>
          <a:ln/>
        </p:spPr>
        <p:txBody>
          <a:bodyPr wrap="square" lIns="1270" tIns="1524" rIns="1524" bIns="1270" rtlCol="0" anchor="t"/>
          <a:lstStyle/>
          <a:p>
            <a:pPr marL="0" indent="0">
              <a:lnSpc>
                <a:spcPct val="100000"/>
              </a:lnSpc>
              <a:buNone/>
            </a:pPr>
            <a:r>
              <a:rPr lang="en-US" sz="750" dirty="0">
                <a:solidFill>
                  <a:schemeClr val="accent2"/>
                </a:solidFill>
                <a:latin typeface="Consolas" pitchFamily="34" charset="0"/>
                <a:ea typeface="Consolas" pitchFamily="34" charset="-122"/>
                <a:cs typeface="Consolas" pitchFamily="34" charset="-120"/>
              </a:rPr>
              <a:t># A. Past grades (G1, G2) vs final grade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fig, axes = plt.subplots(1, 2, figsize=(12, 5))</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sns.regplot(x='G1', y='G3', data=df, ax=axes[0], color='blue',</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scatter_kws={'alpha':0.5})</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axes[0].set_title('G1 vs Final Grade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sns.regplot(x='G2', y='G3', data=df, ax=axes[1], color='green',</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scatter_kws={'alpha':0.5})</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axes[1].set_title('G2 vs Final Grade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a:t>
            </a:r>
            <a:endParaRPr lang="en-US" sz="750" dirty="0"/>
          </a:p>
          <a:p>
            <a:pPr marL="0" indent="0">
              <a:lnSpc>
                <a:spcPct val="100000"/>
              </a:lnSpc>
              <a:buNone/>
            </a:pPr>
            <a:r>
              <a:rPr lang="en-US" sz="750" dirty="0">
                <a:solidFill>
                  <a:schemeClr val="accent2"/>
                </a:solidFill>
                <a:latin typeface="Consolas" pitchFamily="34" charset="0"/>
                <a:ea typeface="Consolas" pitchFamily="34" charset="-122"/>
                <a:cs typeface="Consolas" pitchFamily="34" charset="-120"/>
              </a:rPr>
              <a:t># B. Key categorical features vs final grade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fig, axes = plt.subplots(1, 3, figsize=(15, 5))</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sns.boxplot(x='studytime', y='G3', data=df, ax=axes[0],</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palette='Blues').set_title('Study Time vs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sns.boxplot(x='failures', y='G3', data=df, ax=axes[1],</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palette='Reds').set_title('Past Failures vs G3')</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sns.boxplot(x='higher', y='G3', data=df, ax=axes[2],</a:t>
            </a:r>
            <a:endParaRPr lang="en-US" sz="750" dirty="0"/>
          </a:p>
          <a:p>
            <a:pPr marL="0" indent="0">
              <a:lnSpc>
                <a:spcPct val="100000"/>
              </a:lnSpc>
              <a:buNone/>
            </a:pPr>
            <a:r>
              <a:rPr lang="en-US" sz="750" dirty="0">
                <a:solidFill>
                  <a:schemeClr val="bg1"/>
                </a:solidFill>
                <a:latin typeface="Consolas" pitchFamily="34" charset="0"/>
                <a:ea typeface="Consolas" pitchFamily="34" charset="-122"/>
                <a:cs typeface="Consolas" pitchFamily="34" charset="-120"/>
              </a:rPr>
              <a:t>            palette='Greens').set_title('Wants Higher Ed vs G3')</a:t>
            </a:r>
            <a:endParaRPr lang="en-US" sz="750" dirty="0"/>
          </a:p>
        </p:txBody>
      </p:sp>
      <p:sp>
        <p:nvSpPr>
          <p:cNvPr id="4" name="Bivariate takeaway"/>
          <p:cNvSpPr txBox="1"/>
          <p:nvPr/>
        </p:nvSpPr>
        <p:spPr>
          <a:xfrm>
            <a:off x="411480" y="3931920"/>
            <a:ext cx="4297680" cy="411480"/>
          </a:xfrm>
          <a:prstGeom prst="rect">
            <a:avLst/>
          </a:prstGeom>
          <a:noFill/>
          <a:ln/>
        </p:spPr>
        <p:txBody>
          <a:bodyPr wrap="square" lIns="0" tIns="0" rIns="0" bIns="0" rtlCol="0" anchor="t"/>
          <a:lstStyle/>
          <a:p>
            <a:pPr marL="0" indent="0">
              <a:buNone/>
            </a:pPr>
            <a:r>
              <a:rPr lang="en-US" sz="1000" b="1" dirty="0">
                <a:solidFill>
                  <a:schemeClr val="accent1"/>
                </a:solidFill>
              </a:rPr>
              <a:t>G1 and G2 both rise almost linearly with G3. Median G3 falls as past failures increase and is higher for students who want higher education.</a:t>
            </a:r>
            <a:endParaRPr lang="en-US" sz="1000" dirty="0"/>
          </a:p>
        </p:txBody>
      </p:sp>
      <p:sp>
        <p:nvSpPr>
          <p:cNvPr id="5" name="G1 and G2 vs G3 regression plots frame"/>
          <p:cNvSpPr/>
          <p:nvPr/>
        </p:nvSpPr>
        <p:spPr>
          <a:xfrm>
            <a:off x="4892040" y="914400"/>
            <a:ext cx="3840480" cy="1783080"/>
          </a:xfrm>
          <a:prstGeom prst="roundRect">
            <a:avLst>
              <a:gd name="adj" fmla="val 3077"/>
            </a:avLst>
          </a:prstGeom>
          <a:solidFill>
            <a:schemeClr val="bg2"/>
          </a:solidFill>
          <a:ln w="9525">
            <a:solidFill>
              <a:schemeClr val="accent4"/>
            </a:solidFill>
            <a:prstDash val="solid"/>
          </a:ln>
        </p:spPr>
      </p:sp>
      <p:pic>
        <p:nvPicPr>
          <p:cNvPr id="6" name="G1 and G2 vs G3 regression plots" descr="G1 and G2 vs G3 regression plots"/>
          <p:cNvPicPr>
            <a:picLocks noChangeAspect="1"/>
          </p:cNvPicPr>
          <p:nvPr/>
        </p:nvPicPr>
        <p:blipFill>
          <a:blip r:embed="rId3"/>
          <a:stretch>
            <a:fillRect/>
          </a:stretch>
        </p:blipFill>
        <p:spPr>
          <a:xfrm>
            <a:off x="4937760" y="1055134"/>
            <a:ext cx="3749040" cy="1501611"/>
          </a:xfrm>
          <a:prstGeom prst="rect">
            <a:avLst/>
          </a:prstGeom>
        </p:spPr>
      </p:pic>
      <p:sp>
        <p:nvSpPr>
          <p:cNvPr id="7" name="Study time, failures and higher ed vs G3 frame"/>
          <p:cNvSpPr/>
          <p:nvPr/>
        </p:nvSpPr>
        <p:spPr>
          <a:xfrm>
            <a:off x="4892040" y="2788920"/>
            <a:ext cx="3840480" cy="1371600"/>
          </a:xfrm>
          <a:prstGeom prst="roundRect">
            <a:avLst>
              <a:gd name="adj" fmla="val 4000"/>
            </a:avLst>
          </a:prstGeom>
          <a:solidFill>
            <a:schemeClr val="bg2"/>
          </a:solidFill>
          <a:ln w="9525">
            <a:solidFill>
              <a:schemeClr val="accent4"/>
            </a:solidFill>
            <a:prstDash val="solid"/>
          </a:ln>
        </p:spPr>
      </p:sp>
      <p:pic>
        <p:nvPicPr>
          <p:cNvPr id="8" name="Study time, failures and higher ed vs G3" descr="Study time, failures and higher ed vs G3"/>
          <p:cNvPicPr>
            <a:picLocks noChangeAspect="1"/>
          </p:cNvPicPr>
          <p:nvPr/>
        </p:nvPicPr>
        <p:blipFill>
          <a:blip r:embed="rId4"/>
          <a:stretch>
            <a:fillRect/>
          </a:stretch>
        </p:blipFill>
        <p:spPr>
          <a:xfrm>
            <a:off x="4937760" y="2853802"/>
            <a:ext cx="3749040" cy="1241837"/>
          </a:xfrm>
          <a:prstGeom prst="rect">
            <a:avLst/>
          </a:prstGeom>
        </p:spPr>
      </p:pic>
      <p:sp>
        <p:nvSpPr>
          <p:cNvPr id="40" name="Bivariate description"/>
          <p:cNvSpPr txBox="1"/>
          <p:nvPr/>
        </p:nvSpPr>
        <p:spPr>
          <a:xfrm>
            <a:off x="411480" y="3200400"/>
            <a:ext cx="4297680" cy="685800"/>
          </a:xfrm>
          <a:prstGeom prst="rect">
            <a:avLst/>
          </a:prstGeom>
          <a:noFill/>
          <a:ln/>
        </p:spPr>
        <p:txBody>
          <a:bodyPr wrap="square" lIns="0" tIns="0" rIns="0" bIns="0" rtlCol="0" anchor="t"/>
          <a:lstStyle/>
          <a:p>
            <a:pPr marL="0" indent="0">
              <a:buNone/>
            </a:pPr>
            <a:r>
              <a:rPr lang="en-US" sz="1000" b="1" dirty="0">
                <a:solidFill>
                  <a:schemeClr val="accent1"/>
                </a:solidFill>
              </a:rPr>
              <a:t>What it shows: </a:t>
            </a:r>
            <a:r>
              <a:rPr lang="en-US" sz="1000" dirty="0">
                <a:solidFill>
                  <a:schemeClr val="tx1"/>
                </a:solidFill>
              </a:rPr>
              <a:t>how each variable relates to the final grade (G3). The regression plots compare G1 and G2 with G3, and the boxplots compare G3 across study time, past failures and the wish for higher education.</a:t>
            </a:r>
            <a:endParaRPr lang="en-US" sz="10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Multivariate Analysis </a:t>
            </a:r>
            <a:endParaRPr lang="en-US" sz="2600" dirty="0"/>
          </a:p>
        </p:txBody>
      </p:sp>
      <p:sp>
        <p:nvSpPr>
          <p:cNvPr id="3" name="Member 4 multivariate code"/>
          <p:cNvSpPr txBox="1"/>
          <p:nvPr/>
        </p:nvSpPr>
        <p:spPr>
          <a:xfrm>
            <a:off x="411480" y="914400"/>
            <a:ext cx="4297680" cy="1936496"/>
          </a:xfrm>
          <a:prstGeom prst="roundRect">
            <a:avLst>
              <a:gd name="adj" fmla="val 2833"/>
            </a:avLst>
          </a:prstGeom>
          <a:solidFill>
            <a:schemeClr val="tx1"/>
          </a:solidFill>
          <a:ln/>
        </p:spPr>
        <p:txBody>
          <a:bodyPr wrap="square" lIns="1270" tIns="1524" rIns="1524" bIns="1270" rtlCol="0" anchor="t"/>
          <a:lstStyle/>
          <a:p>
            <a:pPr marL="0" indent="0">
              <a:lnSpc>
                <a:spcPct val="100000"/>
              </a:lnSpc>
              <a:buNone/>
            </a:pPr>
            <a:r>
              <a:rPr lang="en-US" sz="800" dirty="0">
                <a:solidFill>
                  <a:schemeClr val="accent2"/>
                </a:solidFill>
                <a:latin typeface="Consolas" pitchFamily="34" charset="0"/>
                <a:ea typeface="Consolas" pitchFamily="34" charset="-122"/>
                <a:cs typeface="Consolas" pitchFamily="34" charset="-120"/>
              </a:rPr>
              <a:t># A. Correlation heatmap</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plt.figure(figsize=(10, 7))</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numeric_df = df.select_dtypes(include=['int64', 'float64'])</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sns.heatmap(numeric_df.corr(), annot=True, fmt='.2f',</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            cmap='coolwarm', linewidths=0.5)</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plt.title('Multivariate Correlation Heatmap')</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plt.show()</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 </a:t>
            </a:r>
            <a:endParaRPr lang="en-US" sz="800" dirty="0"/>
          </a:p>
          <a:p>
            <a:pPr marL="0" indent="0">
              <a:lnSpc>
                <a:spcPct val="100000"/>
              </a:lnSpc>
              <a:buNone/>
            </a:pPr>
            <a:r>
              <a:rPr lang="en-US" sz="800" dirty="0">
                <a:solidFill>
                  <a:schemeClr val="accent2"/>
                </a:solidFill>
                <a:latin typeface="Consolas" pitchFamily="34" charset="0"/>
                <a:ea typeface="Consolas" pitchFamily="34" charset="-122"/>
                <a:cs typeface="Consolas" pitchFamily="34" charset="-120"/>
              </a:rPr>
              <a:t># B. Study time vs G3 segmented by gender</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plt.figure(figsize=(8, 5))</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sns.boxplot(x='studytime', y='G3', hue='sex',</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            data=df, palette='Set2')</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plt.title('Study Time vs G3 (Grouped by Gender)')</a:t>
            </a:r>
            <a:endParaRPr lang="en-US" sz="800" dirty="0"/>
          </a:p>
          <a:p>
            <a:pPr marL="0" indent="0">
              <a:lnSpc>
                <a:spcPct val="100000"/>
              </a:lnSpc>
              <a:buNone/>
            </a:pPr>
            <a:r>
              <a:rPr lang="en-US" sz="800" dirty="0">
                <a:solidFill>
                  <a:schemeClr val="bg1"/>
                </a:solidFill>
                <a:latin typeface="Consolas" pitchFamily="34" charset="0"/>
                <a:ea typeface="Consolas" pitchFamily="34" charset="-122"/>
                <a:cs typeface="Consolas" pitchFamily="34" charset="-120"/>
              </a:rPr>
              <a:t>plt.show()</a:t>
            </a:r>
            <a:endParaRPr lang="en-US" sz="800" dirty="0"/>
          </a:p>
        </p:txBody>
      </p:sp>
      <p:sp>
        <p:nvSpPr>
          <p:cNvPr id="4" name="Multivariate takeaway"/>
          <p:cNvSpPr txBox="1"/>
          <p:nvPr/>
        </p:nvSpPr>
        <p:spPr>
          <a:xfrm>
            <a:off x="411480" y="3749040"/>
            <a:ext cx="4297680" cy="457200"/>
          </a:xfrm>
          <a:prstGeom prst="rect">
            <a:avLst/>
          </a:prstGeom>
          <a:noFill/>
          <a:ln/>
        </p:spPr>
        <p:txBody>
          <a:bodyPr wrap="square" lIns="0" tIns="0" rIns="0" bIns="0" rtlCol="0" anchor="t"/>
          <a:lstStyle/>
          <a:p>
            <a:pPr marL="0" indent="0">
              <a:buNone/>
            </a:pPr>
            <a:r>
              <a:rPr lang="en-US" sz="1000" b="1" dirty="0">
                <a:solidFill>
                  <a:schemeClr val="accent1"/>
                </a:solidFill>
              </a:rPr>
              <a:t>G2–G3 correlation is 0.90 and G1–G3 is 0.80; past failures are the strongest negative factor (−0.36). Male students show a higher median G3 at study time 2–4.</a:t>
            </a:r>
            <a:endParaRPr lang="en-US" sz="1000" dirty="0"/>
          </a:p>
        </p:txBody>
      </p:sp>
      <p:sp>
        <p:nvSpPr>
          <p:cNvPr id="5" name="Annotated correlation heatmap frame"/>
          <p:cNvSpPr/>
          <p:nvPr/>
        </p:nvSpPr>
        <p:spPr>
          <a:xfrm>
            <a:off x="4892040" y="914400"/>
            <a:ext cx="3840480" cy="2240280"/>
          </a:xfrm>
          <a:prstGeom prst="roundRect">
            <a:avLst>
              <a:gd name="adj" fmla="val 2449"/>
            </a:avLst>
          </a:prstGeom>
          <a:solidFill>
            <a:schemeClr val="bg2"/>
          </a:solidFill>
          <a:ln w="9525">
            <a:solidFill>
              <a:schemeClr val="accent4"/>
            </a:solidFill>
            <a:prstDash val="solid"/>
          </a:ln>
        </p:spPr>
      </p:sp>
      <p:pic>
        <p:nvPicPr>
          <p:cNvPr id="6" name="Annotated correlation heatmap" descr="Annotated correlation heatmap"/>
          <p:cNvPicPr>
            <a:picLocks noChangeAspect="1"/>
          </p:cNvPicPr>
          <p:nvPr/>
        </p:nvPicPr>
        <p:blipFill>
          <a:blip r:embed="rId3"/>
          <a:stretch>
            <a:fillRect/>
          </a:stretch>
        </p:blipFill>
        <p:spPr>
          <a:xfrm>
            <a:off x="5016959" y="960120"/>
            <a:ext cx="3590642" cy="2148840"/>
          </a:xfrm>
          <a:prstGeom prst="rect">
            <a:avLst/>
          </a:prstGeom>
        </p:spPr>
      </p:pic>
      <p:sp>
        <p:nvSpPr>
          <p:cNvPr id="7" name="Study time vs G3 by gender frame"/>
          <p:cNvSpPr/>
          <p:nvPr/>
        </p:nvSpPr>
        <p:spPr>
          <a:xfrm>
            <a:off x="4892040" y="3246120"/>
            <a:ext cx="3840480" cy="1508760"/>
          </a:xfrm>
          <a:prstGeom prst="roundRect">
            <a:avLst>
              <a:gd name="adj" fmla="val 3636"/>
            </a:avLst>
          </a:prstGeom>
          <a:solidFill>
            <a:schemeClr val="bg2"/>
          </a:solidFill>
          <a:ln w="9525">
            <a:solidFill>
              <a:schemeClr val="accent4"/>
            </a:solidFill>
            <a:prstDash val="solid"/>
          </a:ln>
        </p:spPr>
      </p:sp>
      <p:pic>
        <p:nvPicPr>
          <p:cNvPr id="8" name="Study time vs G3 by gender" descr="Study time vs G3 by gender"/>
          <p:cNvPicPr>
            <a:picLocks noChangeAspect="1"/>
          </p:cNvPicPr>
          <p:nvPr/>
        </p:nvPicPr>
        <p:blipFill>
          <a:blip r:embed="rId4"/>
          <a:stretch>
            <a:fillRect/>
          </a:stretch>
        </p:blipFill>
        <p:spPr>
          <a:xfrm>
            <a:off x="5356886" y="3291840"/>
            <a:ext cx="2910787" cy="1417320"/>
          </a:xfrm>
          <a:prstGeom prst="rect">
            <a:avLst/>
          </a:prstGeom>
        </p:spPr>
      </p:pic>
      <p:sp>
        <p:nvSpPr>
          <p:cNvPr id="40" name="Multivariate description"/>
          <p:cNvSpPr txBox="1"/>
          <p:nvPr/>
        </p:nvSpPr>
        <p:spPr>
          <a:xfrm>
            <a:off x="411480" y="2971800"/>
            <a:ext cx="4297680" cy="685800"/>
          </a:xfrm>
          <a:prstGeom prst="rect">
            <a:avLst/>
          </a:prstGeom>
          <a:noFill/>
          <a:ln/>
        </p:spPr>
        <p:txBody>
          <a:bodyPr wrap="square" lIns="0" tIns="0" rIns="0" bIns="0" rtlCol="0" anchor="t"/>
          <a:lstStyle/>
          <a:p>
            <a:pPr marL="0" indent="0">
              <a:buNone/>
            </a:pPr>
            <a:r>
              <a:rPr lang="en-US" sz="1000" b="1" dirty="0">
                <a:solidFill>
                  <a:schemeClr val="accent1"/>
                </a:solidFill>
              </a:rPr>
              <a:t>What it shows: </a:t>
            </a:r>
            <a:r>
              <a:rPr lang="en-US" sz="1000" dirty="0">
                <a:solidFill>
                  <a:schemeClr val="tx1"/>
                </a:solidFill>
              </a:rPr>
              <a:t>how several variables interact at once. The heatmap lists pairwise correlations between all numeric features, and the grouped boxplot compares G3 across study-time levels for male and female students.</a:t>
            </a:r>
            <a:endParaRPr lang="en-US" sz="10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EDA: Academic Trends</a:t>
            </a:r>
            <a:endParaRPr lang="en-US" sz="2600" dirty="0"/>
          </a:p>
        </p:txBody>
      </p:sp>
      <p:sp>
        <p:nvSpPr>
          <p:cNvPr id="3" name="Average G3 by study time frame"/>
          <p:cNvSpPr/>
          <p:nvPr/>
        </p:nvSpPr>
        <p:spPr>
          <a:xfrm>
            <a:off x="411480" y="914400"/>
            <a:ext cx="4114800" cy="1691640"/>
          </a:xfrm>
          <a:prstGeom prst="roundRect">
            <a:avLst>
              <a:gd name="adj" fmla="val 3243"/>
            </a:avLst>
          </a:prstGeom>
          <a:solidFill>
            <a:schemeClr val="bg2"/>
          </a:solidFill>
          <a:ln w="9525">
            <a:solidFill>
              <a:schemeClr val="accent4"/>
            </a:solidFill>
            <a:prstDash val="solid"/>
          </a:ln>
        </p:spPr>
      </p:sp>
      <p:pic>
        <p:nvPicPr>
          <p:cNvPr id="4" name="Average G3 by study time" descr="Average G3 by study time"/>
          <p:cNvPicPr>
            <a:picLocks noChangeAspect="1"/>
          </p:cNvPicPr>
          <p:nvPr/>
        </p:nvPicPr>
        <p:blipFill>
          <a:blip r:embed="rId3"/>
          <a:stretch>
            <a:fillRect/>
          </a:stretch>
        </p:blipFill>
        <p:spPr>
          <a:xfrm>
            <a:off x="1167045" y="960120"/>
            <a:ext cx="2603670" cy="1600200"/>
          </a:xfrm>
          <a:prstGeom prst="rect">
            <a:avLst/>
          </a:prstGeom>
        </p:spPr>
      </p:pic>
      <p:sp>
        <p:nvSpPr>
          <p:cNvPr id="5" name="Average G3 by gender frame"/>
          <p:cNvSpPr/>
          <p:nvPr/>
        </p:nvSpPr>
        <p:spPr>
          <a:xfrm>
            <a:off x="4617720" y="914400"/>
            <a:ext cx="4114800" cy="1691640"/>
          </a:xfrm>
          <a:prstGeom prst="roundRect">
            <a:avLst>
              <a:gd name="adj" fmla="val 3243"/>
            </a:avLst>
          </a:prstGeom>
          <a:solidFill>
            <a:schemeClr val="bg2"/>
          </a:solidFill>
          <a:ln w="9525">
            <a:solidFill>
              <a:schemeClr val="accent4"/>
            </a:solidFill>
            <a:prstDash val="solid"/>
          </a:ln>
        </p:spPr>
      </p:sp>
      <p:pic>
        <p:nvPicPr>
          <p:cNvPr id="6" name="Average G3 by gender" descr="Average G3 by gender"/>
          <p:cNvPicPr>
            <a:picLocks noChangeAspect="1"/>
          </p:cNvPicPr>
          <p:nvPr/>
        </p:nvPicPr>
        <p:blipFill>
          <a:blip r:embed="rId4"/>
          <a:stretch>
            <a:fillRect/>
          </a:stretch>
        </p:blipFill>
        <p:spPr>
          <a:xfrm>
            <a:off x="4676212" y="960120"/>
            <a:ext cx="3997815" cy="1600200"/>
          </a:xfrm>
          <a:prstGeom prst="rect">
            <a:avLst/>
          </a:prstGeom>
        </p:spPr>
      </p:pic>
      <p:sp>
        <p:nvSpPr>
          <p:cNvPr id="7" name="Trend caption"/>
          <p:cNvSpPr txBox="1"/>
          <p:nvPr/>
        </p:nvSpPr>
        <p:spPr>
          <a:xfrm>
            <a:off x="411480" y="2898648"/>
            <a:ext cx="4114800" cy="502920"/>
          </a:xfrm>
          <a:prstGeom prst="rect">
            <a:avLst/>
          </a:prstGeom>
          <a:noFill/>
          <a:ln/>
        </p:spPr>
        <p:txBody>
          <a:bodyPr wrap="square" lIns="0" tIns="0" rIns="0" bIns="0" rtlCol="0" anchor="t"/>
          <a:lstStyle/>
          <a:p>
            <a:pPr marL="0" indent="0">
              <a:buNone/>
            </a:pPr>
            <a:r>
              <a:rPr lang="en-US" sz="1100" dirty="0">
                <a:solidFill>
                  <a:schemeClr val="tx1"/>
                </a:solidFill>
              </a:rPr>
              <a:t>Average final grade rises from about 10.1 to 11.4 as study time goes from category 1 to 3, then dips slightly at 4.</a:t>
            </a:r>
            <a:endParaRPr lang="en-US" sz="1100" dirty="0"/>
          </a:p>
        </p:txBody>
      </p:sp>
      <p:sp>
        <p:nvSpPr>
          <p:cNvPr id="8" name="Gender caption"/>
          <p:cNvSpPr txBox="1"/>
          <p:nvPr/>
        </p:nvSpPr>
        <p:spPr>
          <a:xfrm>
            <a:off x="4617720" y="2898648"/>
            <a:ext cx="4114800" cy="502920"/>
          </a:xfrm>
          <a:prstGeom prst="rect">
            <a:avLst/>
          </a:prstGeom>
          <a:noFill/>
          <a:ln/>
        </p:spPr>
        <p:txBody>
          <a:bodyPr wrap="square" lIns="0" tIns="0" rIns="0" bIns="0" rtlCol="0" anchor="t"/>
          <a:lstStyle/>
          <a:p>
            <a:pPr marL="0" indent="0">
              <a:buNone/>
            </a:pPr>
            <a:r>
              <a:rPr lang="en-US" sz="1100" dirty="0">
                <a:solidFill>
                  <a:schemeClr val="tx1"/>
                </a:solidFill>
              </a:rPr>
              <a:t>Male students average about 11 versus about 10 for female students.</a:t>
            </a:r>
            <a:endParaRPr lang="en-US" sz="1100" dirty="0"/>
          </a:p>
        </p:txBody>
      </p:sp>
      <p:sp>
        <p:nvSpPr>
          <p:cNvPr id="9" name="Line chart code"/>
          <p:cNvSpPr txBox="1"/>
          <p:nvPr/>
        </p:nvSpPr>
        <p:spPr>
          <a:xfrm>
            <a:off x="411480" y="3474720"/>
            <a:ext cx="4114800" cy="1252728"/>
          </a:xfrm>
          <a:prstGeom prst="roundRect">
            <a:avLst>
              <a:gd name="adj" fmla="val 3704"/>
            </a:avLst>
          </a:prstGeom>
          <a:solidFill>
            <a:schemeClr val="tx1"/>
          </a:solidFill>
          <a:ln/>
        </p:spPr>
        <p:txBody>
          <a:bodyPr wrap="square" lIns="1270" tIns="1524" rIns="1524" bIns="1270" rtlCol="0" anchor="t"/>
          <a:lstStyle/>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import os</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os.makedirs('reports', exist_ok=True)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plt.figure(figsize=(8, 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study_trend = df.groupby('studytime')['G3'].mean().reset_index()</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sns.lineplot(x='studytime', y='G3', data=study_trend,</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marker='o', color='b', linewidth=2.5)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plt.title('Trend of Average Final Grade (G3) by Study Time')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plt.xlabel('Weekly Study Time Category')</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plt.ylabel('Average Final Grade (G3)')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plt.savefig('reports/linechart_studytime_g3.png', dpi=150,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bbox_inches='tight')</a:t>
            </a:r>
            <a:endParaRPr lang="en-US" sz="650" dirty="0"/>
          </a:p>
        </p:txBody>
      </p:sp>
      <p:sp>
        <p:nvSpPr>
          <p:cNvPr id="10" name="Bar chart code"/>
          <p:cNvSpPr txBox="1"/>
          <p:nvPr/>
        </p:nvSpPr>
        <p:spPr>
          <a:xfrm>
            <a:off x="4617720" y="3474720"/>
            <a:ext cx="4114800" cy="1252728"/>
          </a:xfrm>
          <a:prstGeom prst="roundRect">
            <a:avLst>
              <a:gd name="adj" fmla="val 3704"/>
            </a:avLst>
          </a:prstGeom>
          <a:solidFill>
            <a:schemeClr val="tx1"/>
          </a:solidFill>
          <a:ln/>
        </p:spPr>
        <p:txBody>
          <a:bodyPr wrap="square" lIns="1270" tIns="1524" rIns="1524" bIns="1270" rtlCol="0" anchor="t"/>
          <a:lstStyle/>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plt.figure(figsize=(8, 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sns.barplot(x='sex', y='G3', data=df, hue='sex',</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palette='viridis', legend=False)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plt.title('Average Final Grade (G3) by Gender')</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plt.xlabel('Gender (sex)')</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plt.ylabel('Average Final Grade (G3)')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plt.savefig('reports/barplot_sex_g3.png', dpi=150,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bbox_inches='tight')</a:t>
            </a:r>
            <a:endParaRPr lang="en-US" sz="650" dirty="0"/>
          </a:p>
        </p:txBody>
      </p:sp>
      <p:sp>
        <p:nvSpPr>
          <p:cNvPr id="40" name="Left description"/>
          <p:cNvSpPr txBox="1"/>
          <p:nvPr/>
        </p:nvSpPr>
        <p:spPr>
          <a:xfrm>
            <a:off x="411480" y="2679192"/>
            <a:ext cx="4114800" cy="201168"/>
          </a:xfrm>
          <a:prstGeom prst="rect">
            <a:avLst/>
          </a:prstGeom>
          <a:noFill/>
          <a:ln/>
        </p:spPr>
        <p:txBody>
          <a:bodyPr wrap="square" lIns="0" tIns="0" rIns="0" bIns="0" rtlCol="0" anchor="t"/>
          <a:lstStyle/>
          <a:p>
            <a:pPr marL="0" indent="0">
              <a:buNone/>
            </a:pPr>
            <a:r>
              <a:rPr lang="en-US" sz="1000" b="1" dirty="0">
                <a:solidFill>
                  <a:schemeClr val="accent1"/>
                </a:solidFill>
              </a:rPr>
              <a:t>Line chart · </a:t>
            </a:r>
            <a:r>
              <a:rPr lang="en-US" sz="1000" dirty="0">
                <a:solidFill>
                  <a:schemeClr val="tx1"/>
                </a:solidFill>
              </a:rPr>
              <a:t>average G3 by weekly study-time category.</a:t>
            </a:r>
            <a:endParaRPr lang="en-US" sz="1000" dirty="0"/>
          </a:p>
        </p:txBody>
      </p:sp>
      <p:sp>
        <p:nvSpPr>
          <p:cNvPr id="41" name="Right description"/>
          <p:cNvSpPr txBox="1"/>
          <p:nvPr/>
        </p:nvSpPr>
        <p:spPr>
          <a:xfrm>
            <a:off x="4617720" y="2679192"/>
            <a:ext cx="4114800" cy="201168"/>
          </a:xfrm>
          <a:prstGeom prst="rect">
            <a:avLst/>
          </a:prstGeom>
          <a:noFill/>
          <a:ln/>
        </p:spPr>
        <p:txBody>
          <a:bodyPr wrap="square" lIns="0" tIns="0" rIns="0" bIns="0" rtlCol="0" anchor="t"/>
          <a:lstStyle/>
          <a:p>
            <a:pPr marL="0" indent="0">
              <a:buNone/>
            </a:pPr>
            <a:r>
              <a:rPr lang="en-US" sz="1000" b="1" dirty="0">
                <a:solidFill>
                  <a:schemeClr val="accent1"/>
                </a:solidFill>
              </a:rPr>
              <a:t>Bar chart · </a:t>
            </a:r>
            <a:r>
              <a:rPr lang="en-US" sz="1000" dirty="0">
                <a:solidFill>
                  <a:schemeClr val="tx1"/>
                </a:solidFill>
              </a:rPr>
              <a:t>average G3 for female and male students.</a:t>
            </a:r>
            <a:endParaRPr lang="en-US" sz="10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EDA: Correlations</a:t>
            </a:r>
            <a:endParaRPr lang="en-US" sz="2600" dirty="0"/>
          </a:p>
        </p:txBody>
      </p:sp>
      <p:sp>
        <p:nvSpPr>
          <p:cNvPr id="3" name="Correlation heatmap frame"/>
          <p:cNvSpPr/>
          <p:nvPr/>
        </p:nvSpPr>
        <p:spPr>
          <a:xfrm>
            <a:off x="411480" y="914400"/>
            <a:ext cx="4297680" cy="3749040"/>
          </a:xfrm>
          <a:prstGeom prst="roundRect">
            <a:avLst>
              <a:gd name="adj" fmla="val 1463"/>
            </a:avLst>
          </a:prstGeom>
          <a:solidFill>
            <a:schemeClr val="bg2"/>
          </a:solidFill>
          <a:ln w="9525">
            <a:solidFill>
              <a:schemeClr val="accent4"/>
            </a:solidFill>
            <a:prstDash val="solid"/>
          </a:ln>
        </p:spPr>
      </p:sp>
      <p:pic>
        <p:nvPicPr>
          <p:cNvPr id="4" name="Correlation heatmap" descr="Correlation heatmap"/>
          <p:cNvPicPr>
            <a:picLocks noChangeAspect="1"/>
          </p:cNvPicPr>
          <p:nvPr/>
        </p:nvPicPr>
        <p:blipFill>
          <a:blip r:embed="rId3"/>
          <a:stretch>
            <a:fillRect/>
          </a:stretch>
        </p:blipFill>
        <p:spPr>
          <a:xfrm>
            <a:off x="457200" y="1436674"/>
            <a:ext cx="4206240" cy="2704491"/>
          </a:xfrm>
          <a:prstGeom prst="rect">
            <a:avLst/>
          </a:prstGeom>
        </p:spPr>
      </p:pic>
      <p:sp>
        <p:nvSpPr>
          <p:cNvPr id="5" name="Correlation points"/>
          <p:cNvSpPr txBox="1"/>
          <p:nvPr/>
        </p:nvSpPr>
        <p:spPr>
          <a:xfrm>
            <a:off x="4937760" y="960120"/>
            <a:ext cx="3794760" cy="12801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chemeClr val="tx1"/>
                </a:solidFill>
              </a:rPr>
              <a:t>G2 and G3 show a very strong correlation of about 0.90</a:t>
            </a:r>
            <a:endParaRPr lang="en-US" sz="1250" dirty="0"/>
          </a:p>
          <a:p>
            <a:pPr marL="342900" indent="-342900">
              <a:spcAft>
                <a:spcPts val="600"/>
              </a:spcAft>
              <a:buSzPct val="100000"/>
              <a:buChar char="•"/>
            </a:pPr>
            <a:r>
              <a:rPr lang="en-US" sz="1250" dirty="0">
                <a:solidFill>
                  <a:schemeClr val="tx1"/>
                </a:solidFill>
              </a:rPr>
              <a:t>G1 also tracks G3 closely</a:t>
            </a:r>
            <a:endParaRPr lang="en-US" sz="1250" dirty="0"/>
          </a:p>
          <a:p>
            <a:pPr marL="342900" indent="-342900">
              <a:spcAft>
                <a:spcPts val="600"/>
              </a:spcAft>
              <a:buSzPct val="100000"/>
              <a:buChar char="•"/>
            </a:pPr>
            <a:r>
              <a:rPr lang="en-US" sz="1250" dirty="0">
                <a:solidFill>
                  <a:schemeClr val="tx1"/>
                </a:solidFill>
              </a:rPr>
              <a:t>Past failures show the strongest negative correlation with grades</a:t>
            </a:r>
            <a:endParaRPr lang="en-US" sz="1250" dirty="0"/>
          </a:p>
        </p:txBody>
      </p:sp>
      <p:sp>
        <p:nvSpPr>
          <p:cNvPr id="6" name="Heatmap code"/>
          <p:cNvSpPr txBox="1"/>
          <p:nvPr/>
        </p:nvSpPr>
        <p:spPr>
          <a:xfrm>
            <a:off x="4937760" y="3017520"/>
            <a:ext cx="3794760" cy="1371600"/>
          </a:xfrm>
          <a:prstGeom prst="roundRect">
            <a:avLst>
              <a:gd name="adj" fmla="val 4000"/>
            </a:avLst>
          </a:prstGeom>
          <a:solidFill>
            <a:schemeClr val="tx1"/>
          </a:solidFill>
          <a:ln/>
        </p:spPr>
        <p:txBody>
          <a:bodyPr wrap="square" lIns="1270" tIns="1524" rIns="1524" bIns="1270" rtlCol="0" anchor="t"/>
          <a:lstStyle/>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plt.figure(figsize=(10, 8))</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numeric_df = df.select_dtypes(include=['float64', 'int64'])</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sns.heatmap(numeric_df.corr(), annot=False,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cmap='coolwarm', linewidths=0.5)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plt.title('Correlation Heatmap of Numerical Features')</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plt.savefig('reports/correlation_heatmap.png', dpi=150,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bbox_inches='tight')</a:t>
            </a:r>
            <a:endParaRPr lang="en-US" sz="650" dirty="0"/>
          </a:p>
        </p:txBody>
      </p:sp>
      <p:sp>
        <p:nvSpPr>
          <p:cNvPr id="40" name="Correlation description"/>
          <p:cNvSpPr txBox="1"/>
          <p:nvPr/>
        </p:nvSpPr>
        <p:spPr>
          <a:xfrm>
            <a:off x="4937760" y="2286000"/>
            <a:ext cx="3794760" cy="685800"/>
          </a:xfrm>
          <a:prstGeom prst="rect">
            <a:avLst/>
          </a:prstGeom>
          <a:noFill/>
          <a:ln/>
        </p:spPr>
        <p:txBody>
          <a:bodyPr wrap="square" lIns="0" tIns="0" rIns="0" bIns="0" rtlCol="0" anchor="t"/>
          <a:lstStyle/>
          <a:p>
            <a:pPr marL="0" indent="0">
              <a:buNone/>
            </a:pPr>
            <a:r>
              <a:rPr lang="en-US" sz="1100" b="1" dirty="0">
                <a:solidFill>
                  <a:schemeClr val="accent1"/>
                </a:solidFill>
              </a:rPr>
              <a:t>What it shows: </a:t>
            </a:r>
            <a:r>
              <a:rPr lang="en-US" sz="1100" dirty="0">
                <a:solidFill>
                  <a:schemeClr val="tx1"/>
                </a:solidFill>
              </a:rPr>
              <a:t>pairwise correlations between all numeric features in the cleaned data. Red cells mark strong positive links and blue cells strong negative ones.</a:t>
            </a:r>
            <a:endParaRPr lang="en-US" sz="11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EDA: Aspiration &amp; Early Performance</a:t>
            </a:r>
            <a:endParaRPr lang="en-US" sz="2600" dirty="0"/>
          </a:p>
        </p:txBody>
      </p:sp>
      <p:sp>
        <p:nvSpPr>
          <p:cNvPr id="3" name="G3 by higher education aspiration frame"/>
          <p:cNvSpPr/>
          <p:nvPr/>
        </p:nvSpPr>
        <p:spPr>
          <a:xfrm>
            <a:off x="411480" y="914400"/>
            <a:ext cx="4114800" cy="1691640"/>
          </a:xfrm>
          <a:prstGeom prst="roundRect">
            <a:avLst>
              <a:gd name="adj" fmla="val 3243"/>
            </a:avLst>
          </a:prstGeom>
          <a:solidFill>
            <a:schemeClr val="bg2"/>
          </a:solidFill>
          <a:ln w="9525">
            <a:solidFill>
              <a:schemeClr val="accent4"/>
            </a:solidFill>
            <a:prstDash val="solid"/>
          </a:ln>
        </p:spPr>
      </p:sp>
      <p:pic>
        <p:nvPicPr>
          <p:cNvPr id="4" name="G3 by higher education aspiration" descr="G3 by higher education aspiration"/>
          <p:cNvPicPr>
            <a:picLocks noChangeAspect="1"/>
          </p:cNvPicPr>
          <p:nvPr/>
        </p:nvPicPr>
        <p:blipFill>
          <a:blip r:embed="rId3"/>
          <a:stretch>
            <a:fillRect/>
          </a:stretch>
        </p:blipFill>
        <p:spPr>
          <a:xfrm>
            <a:off x="608941" y="960120"/>
            <a:ext cx="3719878" cy="1600200"/>
          </a:xfrm>
          <a:prstGeom prst="rect">
            <a:avLst/>
          </a:prstGeom>
        </p:spPr>
      </p:pic>
      <p:sp>
        <p:nvSpPr>
          <p:cNvPr id="5" name="G1 vs G3 scatter by gender frame"/>
          <p:cNvSpPr/>
          <p:nvPr/>
        </p:nvSpPr>
        <p:spPr>
          <a:xfrm>
            <a:off x="4617720" y="914400"/>
            <a:ext cx="4114800" cy="1691640"/>
          </a:xfrm>
          <a:prstGeom prst="roundRect">
            <a:avLst>
              <a:gd name="adj" fmla="val 3243"/>
            </a:avLst>
          </a:prstGeom>
          <a:solidFill>
            <a:schemeClr val="bg2"/>
          </a:solidFill>
          <a:ln w="9525">
            <a:solidFill>
              <a:schemeClr val="accent4"/>
            </a:solidFill>
            <a:prstDash val="solid"/>
          </a:ln>
        </p:spPr>
      </p:sp>
      <p:pic>
        <p:nvPicPr>
          <p:cNvPr id="6" name="G1 vs G3 scatter by gender" descr="G1 vs G3 scatter by gender"/>
          <p:cNvPicPr>
            <a:picLocks noChangeAspect="1"/>
          </p:cNvPicPr>
          <p:nvPr/>
        </p:nvPicPr>
        <p:blipFill>
          <a:blip r:embed="rId4"/>
          <a:stretch>
            <a:fillRect/>
          </a:stretch>
        </p:blipFill>
        <p:spPr>
          <a:xfrm>
            <a:off x="5274601" y="960120"/>
            <a:ext cx="2801039" cy="1600200"/>
          </a:xfrm>
          <a:prstGeom prst="rect">
            <a:avLst/>
          </a:prstGeom>
        </p:spPr>
      </p:pic>
      <p:sp>
        <p:nvSpPr>
          <p:cNvPr id="7" name="Aspiration caption"/>
          <p:cNvSpPr txBox="1"/>
          <p:nvPr/>
        </p:nvSpPr>
        <p:spPr>
          <a:xfrm>
            <a:off x="411480" y="2898648"/>
            <a:ext cx="4114800" cy="502920"/>
          </a:xfrm>
          <a:prstGeom prst="rect">
            <a:avLst/>
          </a:prstGeom>
          <a:noFill/>
          <a:ln/>
        </p:spPr>
        <p:txBody>
          <a:bodyPr wrap="square" lIns="0" tIns="0" rIns="0" bIns="0" rtlCol="0" anchor="t"/>
          <a:lstStyle/>
          <a:p>
            <a:pPr marL="0" indent="0">
              <a:buNone/>
            </a:pPr>
            <a:r>
              <a:rPr lang="en-US" sz="1100" dirty="0">
                <a:solidFill>
                  <a:schemeClr val="tx1"/>
                </a:solidFill>
              </a:rPr>
              <a:t>Students who want higher education have a median G3 near 11, versus about 8 for those who do not.</a:t>
            </a:r>
            <a:endParaRPr lang="en-US" sz="1100" dirty="0"/>
          </a:p>
        </p:txBody>
      </p:sp>
      <p:sp>
        <p:nvSpPr>
          <p:cNvPr id="8" name="Scatter caption"/>
          <p:cNvSpPr txBox="1"/>
          <p:nvPr/>
        </p:nvSpPr>
        <p:spPr>
          <a:xfrm>
            <a:off x="4617720" y="2898648"/>
            <a:ext cx="4114800" cy="502920"/>
          </a:xfrm>
          <a:prstGeom prst="rect">
            <a:avLst/>
          </a:prstGeom>
          <a:noFill/>
          <a:ln/>
        </p:spPr>
        <p:txBody>
          <a:bodyPr wrap="square" lIns="0" tIns="0" rIns="0" bIns="0" rtlCol="0" anchor="t"/>
          <a:lstStyle/>
          <a:p>
            <a:pPr marL="0" indent="0">
              <a:buNone/>
            </a:pPr>
            <a:r>
              <a:rPr lang="en-US" sz="1100" dirty="0">
                <a:solidFill>
                  <a:schemeClr val="tx1"/>
                </a:solidFill>
              </a:rPr>
              <a:t>G1 and G3 rise together almost linearly; a cluster of students end with G3 = 0 despite varied G1.</a:t>
            </a:r>
            <a:endParaRPr lang="en-US" sz="1100" dirty="0"/>
          </a:p>
        </p:txBody>
      </p:sp>
      <p:sp>
        <p:nvSpPr>
          <p:cNvPr id="9" name="Higher ed boxplot code"/>
          <p:cNvSpPr txBox="1"/>
          <p:nvPr/>
        </p:nvSpPr>
        <p:spPr>
          <a:xfrm>
            <a:off x="411480" y="3474720"/>
            <a:ext cx="4114800" cy="1252728"/>
          </a:xfrm>
          <a:prstGeom prst="roundRect">
            <a:avLst>
              <a:gd name="adj" fmla="val 3704"/>
            </a:avLst>
          </a:prstGeom>
          <a:solidFill>
            <a:schemeClr val="tx1"/>
          </a:solidFill>
          <a:ln/>
        </p:spPr>
        <p:txBody>
          <a:bodyPr wrap="square" lIns="1270" tIns="1524" rIns="1524" bIns="1270" rtlCol="0" anchor="t"/>
          <a:lstStyle/>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plt.figure(figsize=(8, 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sns.boxplot(x='higher', y='G3', data=df, hue='higher',</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palette='Set2', legend=False)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plt.title('Final Grades Distribution by Higher Education Aspiration')</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plt.xlabel('Wants Higher Education (higher)')</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plt.ylabel('Final Grade (G3)')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plt.savefig('reports/boxplot_higher_g3.png', dpi=150,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bbox_inches='tight')</a:t>
            </a:r>
            <a:endParaRPr lang="en-US" sz="650" dirty="0"/>
          </a:p>
        </p:txBody>
      </p:sp>
      <p:sp>
        <p:nvSpPr>
          <p:cNvPr id="10" name="Scatter code"/>
          <p:cNvSpPr txBox="1"/>
          <p:nvPr/>
        </p:nvSpPr>
        <p:spPr>
          <a:xfrm>
            <a:off x="4617720" y="3474720"/>
            <a:ext cx="4114800" cy="1252728"/>
          </a:xfrm>
          <a:prstGeom prst="roundRect">
            <a:avLst>
              <a:gd name="adj" fmla="val 3704"/>
            </a:avLst>
          </a:prstGeom>
          <a:solidFill>
            <a:schemeClr val="tx1"/>
          </a:solidFill>
          <a:ln/>
        </p:spPr>
        <p:txBody>
          <a:bodyPr wrap="square" lIns="1270" tIns="1524" rIns="1524" bIns="1270" rtlCol="0" anchor="t"/>
          <a:lstStyle/>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plt.figure(figsize=(8, 5))</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sns.scatterplot(x='G1', y='G3', data=df, hue='sex',</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palette='Set1', alpha=0.8)</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plt.title('First Period Grade (G1) vs Final Grade (G3)')</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plt.xlabel('G1 Score')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plt.ylabel('G3 Score')</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plt.savefig('reports/scatter_g1_g3.png', dpi=150,</a:t>
            </a:r>
            <a:endParaRPr lang="en-US" sz="650" dirty="0"/>
          </a:p>
          <a:p>
            <a:pPr marL="0" indent="0">
              <a:lnSpc>
                <a:spcPct val="100000"/>
              </a:lnSpc>
              <a:buNone/>
            </a:pPr>
            <a:r>
              <a:rPr lang="en-US" sz="650" dirty="0">
                <a:solidFill>
                  <a:schemeClr val="bg1"/>
                </a:solidFill>
                <a:latin typeface="Consolas" pitchFamily="34" charset="0"/>
                <a:ea typeface="Consolas" pitchFamily="34" charset="-122"/>
                <a:cs typeface="Consolas" pitchFamily="34" charset="-120"/>
              </a:rPr>
              <a:t>            bbox_inches='tight')</a:t>
            </a:r>
            <a:endParaRPr lang="en-US" sz="650" dirty="0"/>
          </a:p>
        </p:txBody>
      </p:sp>
      <p:sp>
        <p:nvSpPr>
          <p:cNvPr id="40" name="Left description"/>
          <p:cNvSpPr txBox="1"/>
          <p:nvPr/>
        </p:nvSpPr>
        <p:spPr>
          <a:xfrm>
            <a:off x="411480" y="2679192"/>
            <a:ext cx="4114800" cy="201168"/>
          </a:xfrm>
          <a:prstGeom prst="rect">
            <a:avLst/>
          </a:prstGeom>
          <a:noFill/>
          <a:ln/>
        </p:spPr>
        <p:txBody>
          <a:bodyPr wrap="square" lIns="0" tIns="0" rIns="0" bIns="0" rtlCol="0" anchor="t"/>
          <a:lstStyle/>
          <a:p>
            <a:pPr marL="0" indent="0">
              <a:buNone/>
            </a:pPr>
            <a:r>
              <a:rPr lang="en-US" sz="1000" b="1" dirty="0">
                <a:solidFill>
                  <a:schemeClr val="accent1"/>
                </a:solidFill>
              </a:rPr>
              <a:t>Boxplot · </a:t>
            </a:r>
            <a:r>
              <a:rPr lang="en-US" sz="1000" dirty="0">
                <a:solidFill>
                  <a:schemeClr val="tx1"/>
                </a:solidFill>
              </a:rPr>
              <a:t>G3 by wish to pursue higher education.</a:t>
            </a:r>
            <a:endParaRPr lang="en-US" sz="1000" dirty="0"/>
          </a:p>
        </p:txBody>
      </p:sp>
      <p:sp>
        <p:nvSpPr>
          <p:cNvPr id="41" name="Right description"/>
          <p:cNvSpPr txBox="1"/>
          <p:nvPr/>
        </p:nvSpPr>
        <p:spPr>
          <a:xfrm>
            <a:off x="4617720" y="2679192"/>
            <a:ext cx="4114800" cy="201168"/>
          </a:xfrm>
          <a:prstGeom prst="rect">
            <a:avLst/>
          </a:prstGeom>
          <a:noFill/>
          <a:ln/>
        </p:spPr>
        <p:txBody>
          <a:bodyPr wrap="square" lIns="0" tIns="0" rIns="0" bIns="0" rtlCol="0" anchor="t"/>
          <a:lstStyle/>
          <a:p>
            <a:pPr marL="0" indent="0">
              <a:buNone/>
            </a:pPr>
            <a:r>
              <a:rPr lang="en-US" sz="1000" b="1" dirty="0">
                <a:solidFill>
                  <a:schemeClr val="accent1"/>
                </a:solidFill>
              </a:rPr>
              <a:t>Scatter plot · </a:t>
            </a:r>
            <a:r>
              <a:rPr lang="en-US" sz="1000" dirty="0">
                <a:solidFill>
                  <a:schemeClr val="tx1"/>
                </a:solidFill>
              </a:rPr>
              <a:t>G1 against G3, coloured by gender.</a:t>
            </a:r>
            <a:endParaRPr lang="en-US" sz="10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AI Integration &amp; Tools Used</a:t>
            </a:r>
            <a:endParaRPr lang="en-US" sz="2600" dirty="0"/>
          </a:p>
        </p:txBody>
      </p:sp>
      <p:sp>
        <p:nvSpPr>
          <p:cNvPr id="3" name="Tech stack card"/>
          <p:cNvSpPr/>
          <p:nvPr/>
        </p:nvSpPr>
        <p:spPr>
          <a:xfrm>
            <a:off x="411480" y="1051560"/>
            <a:ext cx="4114800" cy="1554480"/>
          </a:xfrm>
          <a:prstGeom prst="roundRect">
            <a:avLst>
              <a:gd name="adj" fmla="val 4706"/>
            </a:avLst>
          </a:prstGeom>
          <a:solidFill>
            <a:schemeClr val="bg2"/>
          </a:solidFill>
          <a:ln w="9525">
            <a:solidFill>
              <a:schemeClr val="accent4"/>
            </a:solidFill>
            <a:prstDash val="solid"/>
          </a:ln>
        </p:spPr>
      </p:sp>
      <p:sp>
        <p:nvSpPr>
          <p:cNvPr id="4" name="Tech stack heading"/>
          <p:cNvSpPr txBox="1"/>
          <p:nvPr/>
        </p:nvSpPr>
        <p:spPr>
          <a:xfrm>
            <a:off x="59436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Tech stack</a:t>
            </a:r>
            <a:endParaRPr lang="en-US" sz="1500" dirty="0"/>
          </a:p>
        </p:txBody>
      </p:sp>
      <p:sp>
        <p:nvSpPr>
          <p:cNvPr id="5" name="Tech stack text"/>
          <p:cNvSpPr txBox="1"/>
          <p:nvPr/>
        </p:nvSpPr>
        <p:spPr>
          <a:xfrm>
            <a:off x="594360" y="1554480"/>
            <a:ext cx="3749040" cy="914400"/>
          </a:xfrm>
          <a:prstGeom prst="rect">
            <a:avLst/>
          </a:prstGeom>
          <a:noFill/>
          <a:ln/>
        </p:spPr>
        <p:txBody>
          <a:bodyPr wrap="square" lIns="0" tIns="0" rIns="0" bIns="0" rtlCol="0" anchor="t"/>
          <a:lstStyle/>
          <a:p>
            <a:pPr marL="0" indent="0">
              <a:buNone/>
            </a:pPr>
            <a:r>
              <a:rPr lang="en-US" sz="1300" dirty="0">
                <a:solidFill>
                  <a:schemeClr val="tx1"/>
                </a:solidFill>
              </a:rPr>
              <a:t>Python, Pandas, Seaborn, Plotly, Streamlit</a:t>
            </a:r>
            <a:endParaRPr lang="en-US" sz="1300" dirty="0"/>
          </a:p>
        </p:txBody>
      </p:sp>
      <p:sp>
        <p:nvSpPr>
          <p:cNvPr id="6" name="AI usage card"/>
          <p:cNvSpPr/>
          <p:nvPr/>
        </p:nvSpPr>
        <p:spPr>
          <a:xfrm>
            <a:off x="4617720" y="1051560"/>
            <a:ext cx="4114800" cy="1554480"/>
          </a:xfrm>
          <a:prstGeom prst="roundRect">
            <a:avLst>
              <a:gd name="adj" fmla="val 4706"/>
            </a:avLst>
          </a:prstGeom>
          <a:solidFill>
            <a:schemeClr val="bg2"/>
          </a:solidFill>
          <a:ln w="9525">
            <a:solidFill>
              <a:schemeClr val="accent4"/>
            </a:solidFill>
            <a:prstDash val="solid"/>
          </a:ln>
        </p:spPr>
      </p:sp>
      <p:sp>
        <p:nvSpPr>
          <p:cNvPr id="7" name="AI usage heading"/>
          <p:cNvSpPr txBox="1"/>
          <p:nvPr/>
        </p:nvSpPr>
        <p:spPr>
          <a:xfrm>
            <a:off x="480060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AI usage</a:t>
            </a:r>
            <a:endParaRPr lang="en-US" sz="1500" dirty="0"/>
          </a:p>
        </p:txBody>
      </p:sp>
      <p:sp>
        <p:nvSpPr>
          <p:cNvPr id="8" name="AI usage text"/>
          <p:cNvSpPr txBox="1"/>
          <p:nvPr/>
        </p:nvSpPr>
        <p:spPr>
          <a:xfrm>
            <a:off x="4800600" y="1554480"/>
            <a:ext cx="3749040" cy="914400"/>
          </a:xfrm>
          <a:prstGeom prst="rect">
            <a:avLst/>
          </a:prstGeom>
          <a:noFill/>
          <a:ln/>
        </p:spPr>
        <p:txBody>
          <a:bodyPr wrap="square" lIns="0" tIns="0" rIns="0" bIns="0" rtlCol="0" anchor="t"/>
          <a:lstStyle/>
          <a:p>
            <a:pPr marL="0" indent="0">
              <a:buNone/>
            </a:pPr>
            <a:r>
              <a:rPr lang="en-US" sz="1300" dirty="0">
                <a:solidFill>
                  <a:schemeClr val="tx1"/>
                </a:solidFill>
              </a:rPr>
              <a:t>Gemini helped with code syntax: dictionary replacements, Z-score logic, and removing error bars from Seaborn charts</a:t>
            </a:r>
            <a:endParaRPr lang="en-US" sz="13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bg1"/>
                </a:solidFill>
              </a:rPr>
              <a:t>Final Conclusions &amp; Insights</a:t>
            </a:r>
            <a:endParaRPr lang="en-US" sz="2600" dirty="0"/>
          </a:p>
        </p:txBody>
      </p:sp>
      <p:sp>
        <p:nvSpPr>
          <p:cNvPr id="3" name="Conclusion points"/>
          <p:cNvSpPr txBox="1"/>
          <p:nvPr/>
        </p:nvSpPr>
        <p:spPr>
          <a:xfrm>
            <a:off x="411480" y="1005840"/>
            <a:ext cx="8229600" cy="35661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chemeClr val="accent2"/>
                </a:solidFill>
              </a:rPr>
              <a:t>Early success is the strongest predictor: </a:t>
            </a:r>
            <a:r>
              <a:rPr lang="en-US" sz="1400" dirty="0">
                <a:solidFill>
                  <a:schemeClr val="bg1"/>
                </a:solidFill>
              </a:rPr>
              <a:t>G1 and G2 correlate above 0.80 with G3, so early intervention for at-risk students is critical.</a:t>
            </a:r>
          </a:p>
          <a:p>
            <a:pPr marL="342900" indent="-342900">
              <a:spcAft>
                <a:spcPts val="800"/>
              </a:spcAft>
              <a:buSzPct val="100000"/>
              <a:buChar char="•"/>
            </a:pPr>
            <a:r>
              <a:rPr lang="en-US" sz="1400" b="1" dirty="0">
                <a:solidFill>
                  <a:schemeClr val="accent2"/>
                </a:solidFill>
              </a:rPr>
              <a:t>Study time yields positive returns: </a:t>
            </a:r>
            <a:r>
              <a:rPr lang="en-US" sz="1400" dirty="0">
                <a:solidFill>
                  <a:schemeClr val="bg1"/>
                </a:solidFill>
              </a:rPr>
              <a:t>students who study more hours per week generally reach higher average final grades.</a:t>
            </a:r>
          </a:p>
          <a:p>
            <a:pPr marL="342900" indent="-342900">
              <a:spcAft>
                <a:spcPts val="800"/>
              </a:spcAft>
              <a:buSzPct val="100000"/>
              <a:buChar char="•"/>
            </a:pPr>
            <a:r>
              <a:rPr lang="en-US" sz="1400" b="1" dirty="0">
                <a:solidFill>
                  <a:schemeClr val="accent2"/>
                </a:solidFill>
              </a:rPr>
              <a:t>Past failures are a major warning sign: </a:t>
            </a:r>
            <a:r>
              <a:rPr lang="en-US" sz="1400" dirty="0">
                <a:solidFill>
                  <a:schemeClr val="bg1"/>
                </a:solidFill>
              </a:rPr>
              <a:t>they show the strongest negative correlation with G3 and are the biggest red flag for ongoing struggle.</a:t>
            </a:r>
          </a:p>
          <a:p>
            <a:pPr marL="342900" indent="-342900">
              <a:spcAft>
                <a:spcPts val="800"/>
              </a:spcAft>
              <a:buSzPct val="100000"/>
              <a:buChar char="•"/>
            </a:pPr>
            <a:r>
              <a:rPr lang="en-US" sz="1400" b="1" dirty="0">
                <a:solidFill>
                  <a:schemeClr val="accent2"/>
                </a:solidFill>
              </a:rPr>
              <a:t>Academic ambition drives success: </a:t>
            </a:r>
            <a:r>
              <a:rPr lang="en-US" sz="1400" dirty="0">
                <a:solidFill>
                  <a:schemeClr val="bg1"/>
                </a:solidFill>
              </a:rPr>
              <a:t>students who plan higher education have a higher median G3 and stronger overall performance.</a:t>
            </a:r>
          </a:p>
          <a:p>
            <a:pPr marL="342900" indent="-342900">
              <a:spcAft>
                <a:spcPts val="800"/>
              </a:spcAft>
              <a:buSzPct val="100000"/>
              <a:buChar char="•"/>
            </a:pPr>
            <a:r>
              <a:rPr lang="en-US" sz="1400" b="1" dirty="0">
                <a:solidFill>
                  <a:schemeClr val="accent2"/>
                </a:solidFill>
              </a:rPr>
              <a:t>Demographic baselines matter: </a:t>
            </a:r>
            <a:r>
              <a:rPr lang="en-US" sz="1400" dirty="0">
                <a:solidFill>
                  <a:schemeClr val="bg1"/>
                </a:solidFill>
              </a:rPr>
              <a:t>average G3 differs by gender, so future models and interventions should account for demographic variance.</a:t>
            </a:r>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Interactive Dashboard</a:t>
            </a:r>
            <a:endParaRPr lang="en-US" sz="2600" dirty="0"/>
          </a:p>
        </p:txBody>
      </p:sp>
      <p:sp>
        <p:nvSpPr>
          <p:cNvPr id="3" name="Dashboard top frame"/>
          <p:cNvSpPr/>
          <p:nvPr/>
        </p:nvSpPr>
        <p:spPr>
          <a:xfrm>
            <a:off x="411480" y="868680"/>
            <a:ext cx="4114800" cy="2354580"/>
          </a:xfrm>
          <a:prstGeom prst="roundRect">
            <a:avLst>
              <a:gd name="adj" fmla="val 3243"/>
            </a:avLst>
          </a:prstGeom>
          <a:solidFill>
            <a:schemeClr val="bg2"/>
          </a:solidFill>
          <a:ln w="9525">
            <a:solidFill>
              <a:schemeClr val="accent4"/>
            </a:solidFill>
            <a:prstDash val="solid"/>
          </a:ln>
        </p:spPr>
      </p:sp>
      <p:pic>
        <p:nvPicPr>
          <p:cNvPr id="4" name="Dashboard summary view" descr="Streamlit dashboard: summary statistics, G3 histogram and absences vs G3 scatter plot"/>
          <p:cNvPicPr>
            <a:picLocks noChangeAspect="1"/>
          </p:cNvPicPr>
          <p:nvPr/>
        </p:nvPicPr>
        <p:blipFill>
          <a:blip r:embed="rId3"/>
          <a:stretch>
            <a:fillRect/>
          </a:stretch>
        </p:blipFill>
        <p:spPr>
          <a:xfrm>
            <a:off x="457200" y="914400"/>
            <a:ext cx="4023360" cy="2263140"/>
          </a:xfrm>
          <a:prstGeom prst="rect">
            <a:avLst/>
          </a:prstGeom>
        </p:spPr>
      </p:pic>
      <p:sp>
        <p:nvSpPr>
          <p:cNvPr id="5" name="Dashboard charts frame"/>
          <p:cNvSpPr/>
          <p:nvPr/>
        </p:nvSpPr>
        <p:spPr>
          <a:xfrm>
            <a:off x="4617720" y="868680"/>
            <a:ext cx="4114800" cy="2354580"/>
          </a:xfrm>
          <a:prstGeom prst="roundRect">
            <a:avLst>
              <a:gd name="adj" fmla="val 3243"/>
            </a:avLst>
          </a:prstGeom>
          <a:solidFill>
            <a:schemeClr val="bg2"/>
          </a:solidFill>
          <a:ln w="9525">
            <a:solidFill>
              <a:schemeClr val="accent4"/>
            </a:solidFill>
            <a:prstDash val="solid"/>
          </a:ln>
        </p:spPr>
      </p:sp>
      <p:pic>
        <p:nvPicPr>
          <p:cNvPr id="6" name="Dashboard charts and table view" descr="Streamlit dashboard: study time filter, charts and filtered dataset table"/>
          <p:cNvPicPr>
            <a:picLocks noChangeAspect="1"/>
          </p:cNvPicPr>
          <p:nvPr/>
        </p:nvPicPr>
        <p:blipFill>
          <a:blip r:embed="rId4"/>
          <a:stretch>
            <a:fillRect/>
          </a:stretch>
        </p:blipFill>
        <p:spPr>
          <a:xfrm>
            <a:off x="4663440" y="914400"/>
            <a:ext cx="4023360" cy="2263140"/>
          </a:xfrm>
          <a:prstGeom prst="rect">
            <a:avLst/>
          </a:prstGeom>
        </p:spPr>
      </p:pic>
      <p:sp>
        <p:nvSpPr>
          <p:cNvPr id="7" name="Summary card"/>
          <p:cNvSpPr/>
          <p:nvPr/>
        </p:nvSpPr>
        <p:spPr>
          <a:xfrm>
            <a:off x="411480" y="3337560"/>
            <a:ext cx="8321040" cy="1325880"/>
          </a:xfrm>
          <a:prstGeom prst="roundRect">
            <a:avLst>
              <a:gd name="adj" fmla="val 3243"/>
            </a:avLst>
          </a:prstGeom>
          <a:solidFill>
            <a:schemeClr val="bg2"/>
          </a:solidFill>
          <a:ln w="9525">
            <a:solidFill>
              <a:schemeClr val="accent4"/>
            </a:solidFill>
            <a:prstDash val="solid"/>
          </a:ln>
        </p:spPr>
      </p:sp>
      <p:sp>
        <p:nvSpPr>
          <p:cNvPr id="8" name="Summary heading"/>
          <p:cNvSpPr txBox="1"/>
          <p:nvPr/>
        </p:nvSpPr>
        <p:spPr>
          <a:xfrm>
            <a:off x="548640" y="3447288"/>
            <a:ext cx="8046720" cy="228600"/>
          </a:xfrm>
          <a:prstGeom prst="rect">
            <a:avLst/>
          </a:prstGeom>
          <a:noFill/>
          <a:ln/>
        </p:spPr>
        <p:txBody>
          <a:bodyPr wrap="square" lIns="0" tIns="0" rIns="0" bIns="0" rtlCol="0" anchor="t"/>
          <a:lstStyle/>
          <a:p>
            <a:pPr marL="0" indent="0">
              <a:buNone/>
            </a:pPr>
            <a:r>
              <a:rPr lang="en-US" sz="1200" b="1" dirty="0">
                <a:solidFill>
                  <a:schemeClr val="accent1"/>
                </a:solidFill>
              </a:rPr>
              <a:t>Dashboard summary</a:t>
            </a:r>
          </a:p>
        </p:txBody>
      </p:sp>
      <p:sp>
        <p:nvSpPr>
          <p:cNvPr id="9" name="Summary points 1"/>
          <p:cNvSpPr txBox="1"/>
          <p:nvPr/>
        </p:nvSpPr>
        <p:spPr>
          <a:xfrm>
            <a:off x="548640" y="3749040"/>
            <a:ext cx="3931920" cy="822960"/>
          </a:xfrm>
          <a:prstGeom prst="rect">
            <a:avLst/>
          </a:prstGeom>
          <a:noFill/>
          <a:ln/>
        </p:spPr>
        <p:txBody>
          <a:bodyPr wrap="square" lIns="0" tIns="0" rIns="0" bIns="0" rtlCol="0" anchor="t"/>
          <a:lstStyle/>
          <a:p>
            <a:pPr marL="171450" indent="-171450">
              <a:spcAft>
                <a:spcPts val="300"/>
              </a:spcAft>
              <a:buSzPct val="100000"/>
              <a:buChar char="•"/>
            </a:pPr>
            <a:r>
              <a:rPr lang="en-US" sz="1100" dirty="0">
                <a:solidFill>
                  <a:schemeClr val="tx1"/>
                </a:solidFill>
              </a:rPr>
              <a:t>Interactive Streamlit dashboard for the student data</a:t>
            </a:r>
          </a:p>
          <a:p>
            <a:pPr marL="171450" indent="-171450">
              <a:spcAft>
                <a:spcPts val="300"/>
              </a:spcAft>
              <a:buSzPct val="100000"/>
              <a:buChar char="•"/>
            </a:pPr>
            <a:r>
              <a:rPr lang="en-US" sz="1100" dirty="0">
                <a:solidFill>
                  <a:schemeClr val="tx1"/>
                </a:solidFill>
              </a:rPr>
              <a:t>Summary: 387 students, average G3 10.45, highest G3 20</a:t>
            </a:r>
          </a:p>
          <a:p>
            <a:pPr marL="171450" indent="-171450">
              <a:spcAft>
                <a:spcPts val="300"/>
              </a:spcAft>
              <a:buSzPct val="100000"/>
              <a:buChar char="•"/>
            </a:pPr>
            <a:r>
              <a:rPr lang="en-US" sz="1100" dirty="0">
                <a:solidFill>
                  <a:schemeClr val="tx1"/>
                </a:solidFill>
              </a:rPr>
              <a:t>G3 histogram shows how final grades are distributed</a:t>
            </a:r>
          </a:p>
        </p:txBody>
      </p:sp>
      <p:sp>
        <p:nvSpPr>
          <p:cNvPr id="10" name="Summary points 2"/>
          <p:cNvSpPr txBox="1"/>
          <p:nvPr/>
        </p:nvSpPr>
        <p:spPr>
          <a:xfrm>
            <a:off x="4754880" y="3749040"/>
            <a:ext cx="3840480" cy="822960"/>
          </a:xfrm>
          <a:prstGeom prst="rect">
            <a:avLst/>
          </a:prstGeom>
          <a:noFill/>
          <a:ln/>
        </p:spPr>
        <p:txBody>
          <a:bodyPr wrap="square" lIns="0" tIns="0" rIns="0" bIns="0" rtlCol="0" anchor="t"/>
          <a:lstStyle/>
          <a:p>
            <a:pPr marL="171450" indent="-171450">
              <a:spcAft>
                <a:spcPts val="300"/>
              </a:spcAft>
              <a:buSzPct val="100000"/>
              <a:buChar char="•"/>
            </a:pPr>
            <a:r>
              <a:rPr lang="en-US" sz="1100" dirty="0">
                <a:solidFill>
                  <a:schemeClr val="tx1"/>
                </a:solidFill>
              </a:rPr>
              <a:t>Scatter plot compares absences with G3, split by gender</a:t>
            </a:r>
          </a:p>
          <a:p>
            <a:pPr marL="171450" indent="-171450">
              <a:spcAft>
                <a:spcPts val="300"/>
              </a:spcAft>
              <a:buSzPct val="100000"/>
              <a:buChar char="•"/>
            </a:pPr>
            <a:r>
              <a:rPr lang="en-US" sz="1100" dirty="0">
                <a:solidFill>
                  <a:schemeClr val="tx1"/>
                </a:solidFill>
              </a:rPr>
              <a:t>Filtered dataset table shows the matching student records</a:t>
            </a:r>
          </a:p>
          <a:p>
            <a:pPr marL="171450" indent="-171450">
              <a:spcAft>
                <a:spcPts val="300"/>
              </a:spcAft>
              <a:buSzPct val="100000"/>
              <a:buChar char="•"/>
            </a:pPr>
            <a:r>
              <a:rPr lang="en-US" sz="1100" dirty="0">
                <a:solidFill>
                  <a:schemeClr val="tx1"/>
                </a:solidFill>
              </a:rPr>
              <a:t>Study-time sidebar filter (All, 1–4) updates the view</a:t>
            </a:r>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Recommendations</a:t>
            </a:r>
            <a:endParaRPr lang="en-US" sz="2600" dirty="0"/>
          </a:p>
        </p:txBody>
      </p:sp>
      <p:sp>
        <p:nvSpPr>
          <p:cNvPr id="3" name="Early grades card"/>
          <p:cNvSpPr/>
          <p:nvPr/>
        </p:nvSpPr>
        <p:spPr>
          <a:xfrm>
            <a:off x="411480" y="1051560"/>
            <a:ext cx="4114800" cy="1325880"/>
          </a:xfrm>
          <a:prstGeom prst="roundRect">
            <a:avLst>
              <a:gd name="adj" fmla="val 5517"/>
            </a:avLst>
          </a:prstGeom>
          <a:solidFill>
            <a:schemeClr val="bg2"/>
          </a:solidFill>
          <a:ln w="9525">
            <a:solidFill>
              <a:schemeClr val="accent4"/>
            </a:solidFill>
            <a:prstDash val="solid"/>
          </a:ln>
        </p:spPr>
      </p:sp>
      <p:sp>
        <p:nvSpPr>
          <p:cNvPr id="4" name="Early grades heading"/>
          <p:cNvSpPr txBox="1"/>
          <p:nvPr/>
        </p:nvSpPr>
        <p:spPr>
          <a:xfrm>
            <a:off x="59436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Watch early grades</a:t>
            </a:r>
            <a:endParaRPr lang="en-US" sz="1500" dirty="0"/>
          </a:p>
        </p:txBody>
      </p:sp>
      <p:sp>
        <p:nvSpPr>
          <p:cNvPr id="5" name="Early grades text"/>
          <p:cNvSpPr txBox="1"/>
          <p:nvPr/>
        </p:nvSpPr>
        <p:spPr>
          <a:xfrm>
            <a:off x="594360" y="1554480"/>
            <a:ext cx="3749040" cy="685800"/>
          </a:xfrm>
          <a:prstGeom prst="rect">
            <a:avLst/>
          </a:prstGeom>
          <a:noFill/>
          <a:ln/>
        </p:spPr>
        <p:txBody>
          <a:bodyPr wrap="square" lIns="0" tIns="0" rIns="0" bIns="0" rtlCol="0" anchor="t"/>
          <a:lstStyle/>
          <a:p>
            <a:pPr marL="0" indent="0">
              <a:buNone/>
            </a:pPr>
            <a:r>
              <a:rPr lang="en-US" sz="1300" dirty="0">
                <a:solidFill>
                  <a:schemeClr val="tx1"/>
                </a:solidFill>
              </a:rPr>
              <a:t>Flag weak G1 and G2 results as the earliest warning sign</a:t>
            </a:r>
            <a:endParaRPr lang="en-US" sz="1300" dirty="0"/>
          </a:p>
        </p:txBody>
      </p:sp>
      <p:sp>
        <p:nvSpPr>
          <p:cNvPr id="6" name="Past failures card"/>
          <p:cNvSpPr/>
          <p:nvPr/>
        </p:nvSpPr>
        <p:spPr>
          <a:xfrm>
            <a:off x="4617720" y="1051560"/>
            <a:ext cx="4114800" cy="1325880"/>
          </a:xfrm>
          <a:prstGeom prst="roundRect">
            <a:avLst>
              <a:gd name="adj" fmla="val 5517"/>
            </a:avLst>
          </a:prstGeom>
          <a:solidFill>
            <a:schemeClr val="bg2"/>
          </a:solidFill>
          <a:ln w="9525">
            <a:solidFill>
              <a:schemeClr val="accent4"/>
            </a:solidFill>
            <a:prstDash val="solid"/>
          </a:ln>
        </p:spPr>
      </p:sp>
      <p:sp>
        <p:nvSpPr>
          <p:cNvPr id="7" name="Past failures heading"/>
          <p:cNvSpPr txBox="1"/>
          <p:nvPr/>
        </p:nvSpPr>
        <p:spPr>
          <a:xfrm>
            <a:off x="480060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Support past failures</a:t>
            </a:r>
            <a:endParaRPr lang="en-US" sz="1500" dirty="0"/>
          </a:p>
        </p:txBody>
      </p:sp>
      <p:sp>
        <p:nvSpPr>
          <p:cNvPr id="8" name="Past failures text"/>
          <p:cNvSpPr txBox="1"/>
          <p:nvPr/>
        </p:nvSpPr>
        <p:spPr>
          <a:xfrm>
            <a:off x="4800600" y="1554480"/>
            <a:ext cx="3749040" cy="685800"/>
          </a:xfrm>
          <a:prstGeom prst="rect">
            <a:avLst/>
          </a:prstGeom>
          <a:noFill/>
          <a:ln/>
        </p:spPr>
        <p:txBody>
          <a:bodyPr wrap="square" lIns="0" tIns="0" rIns="0" bIns="0" rtlCol="0" anchor="t"/>
          <a:lstStyle/>
          <a:p>
            <a:pPr marL="0" indent="0">
              <a:buNone/>
            </a:pPr>
            <a:r>
              <a:rPr lang="en-US" sz="1300" dirty="0">
                <a:solidFill>
                  <a:schemeClr val="tx1"/>
                </a:solidFill>
              </a:rPr>
              <a:t>Offer tutoring or mentoring to students who have failed before</a:t>
            </a:r>
            <a:endParaRPr lang="en-US" sz="1300" dirty="0"/>
          </a:p>
        </p:txBody>
      </p:sp>
      <p:sp>
        <p:nvSpPr>
          <p:cNvPr id="9" name="Steady study card"/>
          <p:cNvSpPr/>
          <p:nvPr/>
        </p:nvSpPr>
        <p:spPr>
          <a:xfrm>
            <a:off x="411480" y="2560320"/>
            <a:ext cx="4114800" cy="1325880"/>
          </a:xfrm>
          <a:prstGeom prst="roundRect">
            <a:avLst>
              <a:gd name="adj" fmla="val 5517"/>
            </a:avLst>
          </a:prstGeom>
          <a:solidFill>
            <a:schemeClr val="bg2"/>
          </a:solidFill>
          <a:ln w="9525">
            <a:solidFill>
              <a:schemeClr val="accent4"/>
            </a:solidFill>
            <a:prstDash val="solid"/>
          </a:ln>
        </p:spPr>
      </p:sp>
      <p:sp>
        <p:nvSpPr>
          <p:cNvPr id="10" name="Steady study heading"/>
          <p:cNvSpPr txBox="1"/>
          <p:nvPr/>
        </p:nvSpPr>
        <p:spPr>
          <a:xfrm>
            <a:off x="594360" y="269748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Encourage steady study</a:t>
            </a:r>
            <a:endParaRPr lang="en-US" sz="1500" dirty="0"/>
          </a:p>
        </p:txBody>
      </p:sp>
      <p:sp>
        <p:nvSpPr>
          <p:cNvPr id="11" name="Steady study text"/>
          <p:cNvSpPr txBox="1"/>
          <p:nvPr/>
        </p:nvSpPr>
        <p:spPr>
          <a:xfrm>
            <a:off x="594360" y="3063240"/>
            <a:ext cx="3749040" cy="685800"/>
          </a:xfrm>
          <a:prstGeom prst="rect">
            <a:avLst/>
          </a:prstGeom>
          <a:noFill/>
          <a:ln/>
        </p:spPr>
        <p:txBody>
          <a:bodyPr wrap="square" lIns="0" tIns="0" rIns="0" bIns="0" rtlCol="0" anchor="t"/>
          <a:lstStyle/>
          <a:p>
            <a:pPr marL="0" indent="0">
              <a:buNone/>
            </a:pPr>
            <a:r>
              <a:rPr lang="en-US" sz="1300" dirty="0">
                <a:solidFill>
                  <a:schemeClr val="tx1"/>
                </a:solidFill>
              </a:rPr>
              <a:t>Aim for moderate, consistent study time</a:t>
            </a:r>
            <a:endParaRPr lang="en-US" sz="1300" dirty="0"/>
          </a:p>
        </p:txBody>
      </p:sp>
      <p:sp>
        <p:nvSpPr>
          <p:cNvPr id="12" name="Long-term goals card"/>
          <p:cNvSpPr/>
          <p:nvPr/>
        </p:nvSpPr>
        <p:spPr>
          <a:xfrm>
            <a:off x="4617720" y="2560320"/>
            <a:ext cx="4114800" cy="1325880"/>
          </a:xfrm>
          <a:prstGeom prst="roundRect">
            <a:avLst>
              <a:gd name="adj" fmla="val 5517"/>
            </a:avLst>
          </a:prstGeom>
          <a:solidFill>
            <a:schemeClr val="bg2"/>
          </a:solidFill>
          <a:ln w="9525">
            <a:solidFill>
              <a:schemeClr val="accent4"/>
            </a:solidFill>
            <a:prstDash val="solid"/>
          </a:ln>
        </p:spPr>
      </p:sp>
      <p:sp>
        <p:nvSpPr>
          <p:cNvPr id="13" name="Long-term goals heading"/>
          <p:cNvSpPr txBox="1"/>
          <p:nvPr/>
        </p:nvSpPr>
        <p:spPr>
          <a:xfrm>
            <a:off x="4800600" y="269748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Back long-term goals</a:t>
            </a:r>
            <a:endParaRPr lang="en-US" sz="1500" dirty="0"/>
          </a:p>
        </p:txBody>
      </p:sp>
      <p:sp>
        <p:nvSpPr>
          <p:cNvPr id="14" name="Long-term goals text"/>
          <p:cNvSpPr txBox="1"/>
          <p:nvPr/>
        </p:nvSpPr>
        <p:spPr>
          <a:xfrm>
            <a:off x="4800600" y="3063240"/>
            <a:ext cx="3749040" cy="685800"/>
          </a:xfrm>
          <a:prstGeom prst="rect">
            <a:avLst/>
          </a:prstGeom>
          <a:noFill/>
          <a:ln/>
        </p:spPr>
        <p:txBody>
          <a:bodyPr wrap="square" lIns="0" tIns="0" rIns="0" bIns="0" rtlCol="0" anchor="t"/>
          <a:lstStyle/>
          <a:p>
            <a:pPr marL="0" indent="0">
              <a:buNone/>
            </a:pPr>
            <a:r>
              <a:rPr lang="en-US" sz="1300" dirty="0">
                <a:solidFill>
                  <a:schemeClr val="tx1"/>
                </a:solidFill>
              </a:rPr>
              <a:t>Guidance for students aiming at higher education</a:t>
            </a:r>
            <a:endParaRPr lang="en-US" sz="13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11480" y="256032"/>
            <a:ext cx="8321040" cy="548640"/>
          </a:xfrm>
          <a:prstGeom prst="rect">
            <a:avLst/>
          </a:prstGeom>
          <a:noFill/>
          <a:ln/>
        </p:spPr>
        <p:txBody>
          <a:bodyPr wrap="square" lIns="0" tIns="0" rIns="0" bIns="0" rtlCol="0" anchor="ctr"/>
          <a:lstStyle/>
          <a:p>
            <a:pPr marL="0" indent="0" algn="l">
              <a:buNone/>
            </a:pPr>
            <a:r>
              <a:rPr lang="en-US" sz="2600" b="1" dirty="0">
                <a:solidFill>
                  <a:schemeClr val="tx1"/>
                </a:solidFill>
              </a:rPr>
              <a:t>Limitations &amp; Future Work</a:t>
            </a:r>
            <a:endParaRPr lang="en-US" sz="2600" dirty="0"/>
          </a:p>
        </p:txBody>
      </p:sp>
      <p:sp>
        <p:nvSpPr>
          <p:cNvPr id="3" name="Limitations card"/>
          <p:cNvSpPr/>
          <p:nvPr/>
        </p:nvSpPr>
        <p:spPr>
          <a:xfrm>
            <a:off x="411480" y="1051560"/>
            <a:ext cx="4114800" cy="1554480"/>
          </a:xfrm>
          <a:prstGeom prst="roundRect">
            <a:avLst>
              <a:gd name="adj" fmla="val 4706"/>
            </a:avLst>
          </a:prstGeom>
          <a:solidFill>
            <a:schemeClr val="bg2"/>
          </a:solidFill>
          <a:ln w="9525">
            <a:solidFill>
              <a:schemeClr val="accent4"/>
            </a:solidFill>
            <a:prstDash val="solid"/>
          </a:ln>
        </p:spPr>
      </p:sp>
      <p:sp>
        <p:nvSpPr>
          <p:cNvPr id="4" name="Limitations heading"/>
          <p:cNvSpPr txBox="1"/>
          <p:nvPr/>
        </p:nvSpPr>
        <p:spPr>
          <a:xfrm>
            <a:off x="59436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Limitations</a:t>
            </a:r>
            <a:endParaRPr lang="en-US" sz="1500" dirty="0"/>
          </a:p>
        </p:txBody>
      </p:sp>
      <p:sp>
        <p:nvSpPr>
          <p:cNvPr id="5" name="Limitations text"/>
          <p:cNvSpPr txBox="1"/>
          <p:nvPr/>
        </p:nvSpPr>
        <p:spPr>
          <a:xfrm>
            <a:off x="594360" y="1554480"/>
            <a:ext cx="3749040" cy="914400"/>
          </a:xfrm>
          <a:prstGeom prst="rect">
            <a:avLst/>
          </a:prstGeom>
          <a:noFill/>
          <a:ln/>
        </p:spPr>
        <p:txBody>
          <a:bodyPr wrap="square" lIns="0" tIns="0" rIns="0" bIns="0" rtlCol="0" anchor="t"/>
          <a:lstStyle/>
          <a:p>
            <a:pPr marL="0" indent="0">
              <a:buNone/>
            </a:pPr>
            <a:r>
              <a:rPr lang="en-US" sz="1300" dirty="0">
                <a:solidFill>
                  <a:schemeClr val="tx1"/>
                </a:solidFill>
              </a:rPr>
              <a:t>Only 395 students, one subject, and correlation does not prove causation</a:t>
            </a:r>
            <a:endParaRPr lang="en-US" sz="1300" dirty="0"/>
          </a:p>
        </p:txBody>
      </p:sp>
      <p:sp>
        <p:nvSpPr>
          <p:cNvPr id="6" name="Next steps card"/>
          <p:cNvSpPr/>
          <p:nvPr/>
        </p:nvSpPr>
        <p:spPr>
          <a:xfrm>
            <a:off x="4617720" y="1051560"/>
            <a:ext cx="4114800" cy="1554480"/>
          </a:xfrm>
          <a:prstGeom prst="roundRect">
            <a:avLst>
              <a:gd name="adj" fmla="val 4706"/>
            </a:avLst>
          </a:prstGeom>
          <a:solidFill>
            <a:schemeClr val="bg2"/>
          </a:solidFill>
          <a:ln w="9525">
            <a:solidFill>
              <a:schemeClr val="accent4"/>
            </a:solidFill>
            <a:prstDash val="solid"/>
          </a:ln>
        </p:spPr>
      </p:sp>
      <p:sp>
        <p:nvSpPr>
          <p:cNvPr id="7" name="Next steps heading"/>
          <p:cNvSpPr txBox="1"/>
          <p:nvPr/>
        </p:nvSpPr>
        <p:spPr>
          <a:xfrm>
            <a:off x="4800600" y="1188720"/>
            <a:ext cx="3749040" cy="320040"/>
          </a:xfrm>
          <a:prstGeom prst="rect">
            <a:avLst/>
          </a:prstGeom>
          <a:noFill/>
          <a:ln/>
        </p:spPr>
        <p:txBody>
          <a:bodyPr wrap="square" lIns="0" tIns="0" rIns="0" bIns="0" rtlCol="0" anchor="ctr"/>
          <a:lstStyle/>
          <a:p>
            <a:pPr marL="0" indent="0">
              <a:buNone/>
            </a:pPr>
            <a:r>
              <a:rPr lang="en-US" sz="1500" b="1" dirty="0">
                <a:solidFill>
                  <a:schemeClr val="accent1"/>
                </a:solidFill>
              </a:rPr>
              <a:t>Next steps</a:t>
            </a:r>
            <a:endParaRPr lang="en-US" sz="1500" dirty="0"/>
          </a:p>
        </p:txBody>
      </p:sp>
      <p:sp>
        <p:nvSpPr>
          <p:cNvPr id="8" name="Next steps text"/>
          <p:cNvSpPr txBox="1"/>
          <p:nvPr/>
        </p:nvSpPr>
        <p:spPr>
          <a:xfrm>
            <a:off x="4800600" y="1554480"/>
            <a:ext cx="3749040" cy="914400"/>
          </a:xfrm>
          <a:prstGeom prst="rect">
            <a:avLst/>
          </a:prstGeom>
          <a:noFill/>
          <a:ln/>
        </p:spPr>
        <p:txBody>
          <a:bodyPr wrap="square" lIns="0" tIns="0" rIns="0" bIns="0" rtlCol="0" anchor="t"/>
          <a:lstStyle/>
          <a:p>
            <a:pPr marL="0" indent="0">
              <a:buNone/>
            </a:pPr>
            <a:r>
              <a:rPr lang="en-US" sz="1300" dirty="0">
                <a:solidFill>
                  <a:schemeClr val="tx1"/>
                </a:solidFill>
              </a:rPr>
              <a:t>Predictive models for G3, larger or multi-subject data, a richer dashboard with a risk indicator, and online deployment</a:t>
            </a:r>
            <a:endParaRPr lang="en-US" sz="1300" dirty="0"/>
          </a:p>
        </p:txBody>
      </p:sp>
      <p:sp>
        <p:nvSpPr>
          <p:cNvPr id="25" name="Slide Number Placeholder 0"/>
          <p:cNvSpPr>
            <a:spLocks noGrp="1"/>
          </p:cNvSpPr>
          <p:nvPr>
            <p:ph type="sldNum" sz="quarter" idx="4294967295"/>
          </p:nvPr>
        </p:nvSpPr>
        <p:spPr>
          <a:xfrm>
            <a:off x="3246120" y="4828032"/>
            <a:ext cx="365760" cy="201168"/>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hank you"/>
          <p:cNvSpPr txBox="1"/>
          <p:nvPr/>
        </p:nvSpPr>
        <p:spPr>
          <a:xfrm>
            <a:off x="594360" y="1554480"/>
            <a:ext cx="7315200" cy="822960"/>
          </a:xfrm>
          <a:prstGeom prst="rect">
            <a:avLst/>
          </a:prstGeom>
          <a:noFill/>
          <a:ln/>
        </p:spPr>
        <p:txBody>
          <a:bodyPr wrap="square" lIns="0" tIns="0" rIns="0" bIns="0" rtlCol="0" anchor="ctr"/>
          <a:lstStyle/>
          <a:p>
            <a:pPr marL="0" indent="0">
              <a:buNone/>
            </a:pPr>
            <a:r>
              <a:rPr lang="en-US" sz="4400" b="1" dirty="0">
                <a:solidFill>
                  <a:schemeClr val="bg1"/>
                </a:solidFill>
              </a:rPr>
              <a:t>Thank You</a:t>
            </a:r>
            <a:endParaRPr lang="en-US" sz="4400" dirty="0"/>
          </a:p>
        </p:txBody>
      </p:sp>
      <p:sp>
        <p:nvSpPr>
          <p:cNvPr id="3" name="Subtitle"/>
          <p:cNvSpPr txBox="1"/>
          <p:nvPr/>
        </p:nvSpPr>
        <p:spPr>
          <a:xfrm>
            <a:off x="594360" y="2468880"/>
            <a:ext cx="7315200" cy="457200"/>
          </a:xfrm>
          <a:prstGeom prst="rect">
            <a:avLst/>
          </a:prstGeom>
          <a:noFill/>
          <a:ln/>
        </p:spPr>
        <p:txBody>
          <a:bodyPr wrap="square" lIns="0" tIns="0" rIns="0" bIns="0" rtlCol="0" anchor="ctr"/>
          <a:lstStyle/>
          <a:p>
            <a:pPr marL="0" indent="0">
              <a:buNone/>
            </a:pPr>
            <a:r>
              <a:rPr lang="en-US" sz="2000" dirty="0">
                <a:solidFill>
                  <a:schemeClr val="accent2"/>
                </a:solidFill>
              </a:rPr>
              <a:t>Questions &amp; Discussion</a:t>
            </a:r>
            <a:endParaRPr lang="en-US" sz="2000" dirty="0"/>
          </a:p>
        </p:txBody>
      </p:sp>
      <p:sp>
        <p:nvSpPr>
          <p:cNvPr id="4" name="Project name"/>
          <p:cNvSpPr txBox="1"/>
          <p:nvPr/>
        </p:nvSpPr>
        <p:spPr>
          <a:xfrm>
            <a:off x="594360" y="3108960"/>
            <a:ext cx="7315200" cy="365760"/>
          </a:xfrm>
          <a:prstGeom prst="rect">
            <a:avLst/>
          </a:prstGeom>
          <a:noFill/>
          <a:ln/>
        </p:spPr>
        <p:txBody>
          <a:bodyPr wrap="square" lIns="0" tIns="0" rIns="0" bIns="0" rtlCol="0" anchor="ctr"/>
          <a:lstStyle/>
          <a:p>
            <a:pPr marL="0" indent="0">
              <a:buNone/>
            </a:pPr>
            <a:r>
              <a:rPr lang="en-US" sz="1400" dirty="0">
                <a:solidFill>
                  <a:schemeClr val="bg1"/>
                </a:solidFill>
              </a:rPr>
              <a:t>Student Mathematics Performance Analytics</a:t>
            </a:r>
            <a:endParaRPr lang="en-US" sz="1400" dirty="0"/>
          </a:p>
        </p:txBody>
      </p:sp>
    </p:spTree>
  </p:cSld>
  <p:clrMapOvr>
    <a:masterClrMapping/>
  </p:clrMapOvr>
</p:sld>
</file>

<file path=ppt/theme/theme1.xml><?xml version="1.0" encoding="utf-8"?>
<a:theme xmlns:a="http://schemas.openxmlformats.org/drawingml/2006/main" name="Student Analytics">
  <a:themeElements>
    <a:clrScheme name="Student Analytics">
      <a:dk1>
        <a:srgbClr val="0F1B2D"/>
      </a:dk1>
      <a:lt1>
        <a:srgbClr val="F5F3EE"/>
      </a:lt1>
      <a:dk2>
        <a:srgbClr val="0F1B2D"/>
      </a:dk2>
      <a:lt2>
        <a:srgbClr val="FFFFFF"/>
      </a:lt2>
      <a:accent1>
        <a:srgbClr val="1F9D8F"/>
      </a:accent1>
      <a:accent2>
        <a:srgbClr val="E8A33D"/>
      </a:accent2>
      <a:accent3>
        <a:srgbClr val="6A7179"/>
      </a:accent3>
      <a:accent4>
        <a:srgbClr val="E3E6E4"/>
      </a:accent4>
      <a:accent5>
        <a:srgbClr val="2B3A55"/>
      </a:accent5>
      <a:accent6>
        <a:srgbClr val="D9534F"/>
      </a:accent6>
      <a:hlink>
        <a:srgbClr val="1F9D8F"/>
      </a:hlink>
      <a:folHlink>
        <a:srgbClr val="6A7179"/>
      </a:folHlink>
    </a:clrScheme>
    <a:fontScheme name="Student Analytic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2792</Words>
  <Application>Microsoft Office PowerPoint</Application>
  <PresentationFormat>On-screen Show (16:9)</PresentationFormat>
  <Paragraphs>287</Paragraphs>
  <Slides>17</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Consolas</vt:lpstr>
      <vt:lpstr>Student Analytics</vt:lpstr>
      <vt:lpstr>PowerPoint Presentation</vt:lpstr>
      <vt:lpstr>Introduction &amp; Problem Statement</vt:lpstr>
      <vt:lpstr>Dataset Description</vt:lpstr>
      <vt:lpstr>Data Cleaning &amp; Preprocessing</vt:lpstr>
      <vt:lpstr>Data Cleaning &amp; Preprocessing</vt:lpstr>
      <vt:lpstr>Univariate Analysis &amp; Outliers </vt:lpstr>
      <vt:lpstr>Bivariate Analysis </vt:lpstr>
      <vt:lpstr>Multivariate Analysis </vt:lpstr>
      <vt:lpstr>EDA: Academic Trends</vt:lpstr>
      <vt:lpstr>EDA: Correlations</vt:lpstr>
      <vt:lpstr>EDA: Aspiration &amp; Early Performance</vt:lpstr>
      <vt:lpstr>AI Integration &amp; Tools Used</vt:lpstr>
      <vt:lpstr>Final Conclusions &amp; Insights</vt:lpstr>
      <vt:lpstr>Interactive Dashboard</vt:lpstr>
      <vt:lpstr>Recommendations</vt:lpstr>
      <vt:lpstr>Limitations &amp; Future Work</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Shaheen Khan</cp:lastModifiedBy>
  <cp:revision>3</cp:revision>
  <dcterms:created xsi:type="dcterms:W3CDTF">2026-10-22T17:55:22Z</dcterms:created>
  <dcterms:modified xsi:type="dcterms:W3CDTF">2026-10-24T05:47:36Z</dcterms:modified>
</cp:coreProperties>
</file>